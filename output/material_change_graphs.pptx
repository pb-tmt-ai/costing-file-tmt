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notesMasters/notesMaster1.xml" ContentType="application/vnd.openxmlformats-officedocument.presentationml.notesMaster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charts/chart1.xml" ContentType="application/vnd.openxmlformats-officedocument.drawingml.chart+xml"/>
  <ns0:Override PartName="/ppt/slides/slide3.xml" ContentType="application/vnd.openxmlformats-officedocument.presentationml.slide+xml"/>
  <ns0:Override PartName="/ppt/charts/chart2.xml" ContentType="application/vnd.openxmlformats-officedocument.drawingml.chart+xml"/>
  <ns0:Override PartName="/ppt/slides/slide4.xml" ContentType="application/vnd.openxmlformats-officedocument.presentationml.slide+xml"/>
  <ns0:Override PartName="/ppt/charts/chart3.xml" ContentType="application/vnd.openxmlformats-officedocument.drawingml.chart+xml"/>
  <ns0:Override PartName="/ppt/slides/slide5.xml" ContentType="application/vnd.openxmlformats-officedocument.presentationml.slide+xml"/>
  <ns0:Override PartName="/ppt/charts/chart4.xml" ContentType="application/vnd.openxmlformats-officedocument.drawingml.char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R:-300 | N:-1,600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31800</c:v>
                </c:pt>
                <c:pt idx="6">
                  <c:v>31100</c:v>
                </c:pt>
                <c:pt idx="7">
                  <c:v>31200</c:v>
                </c:pt>
                <c:pt idx="8">
                  <c:v>31500</c:v>
                </c:pt>
                <c:pt idx="9">
                  <c:v>31800</c:v>
                </c:pt>
                <c:pt idx="10">
                  <c:v>30200</c:v>
                </c:pt>
                <c:pt idx="11">
                  <c:v>31000</c:v>
                </c:pt>
                <c:pt idx="12">
                  <c:v>31500</c:v>
                </c:pt>
                <c:pt idx="13">
                  <c:v>33750</c:v>
                </c:pt>
                <c:pt idx="14">
                  <c:v>33700</c:v>
                </c:pt>
                <c:pt idx="15">
                  <c:v>34500</c:v>
                </c:pt>
                <c:pt idx="16">
                  <c:v>35600</c:v>
                </c:pt>
                <c:pt idx="17">
                  <c:v>34900</c:v>
                </c:pt>
                <c:pt idx="18">
                  <c:v>34300</c:v>
                </c:pt>
                <c:pt idx="19">
                  <c:v>34000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R:-300 | N:-1,600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32800</c:v>
                </c:pt>
                <c:pt idx="6">
                  <c:v>32400</c:v>
                </c:pt>
                <c:pt idx="7">
                  <c:v>31900</c:v>
                </c:pt>
                <c:pt idx="8">
                  <c:v>30700</c:v>
                </c:pt>
                <c:pt idx="9">
                  <c:v>31400</c:v>
                </c:pt>
                <c:pt idx="10">
                  <c:v>29900</c:v>
                </c:pt>
                <c:pt idx="11">
                  <c:v>31800</c:v>
                </c:pt>
                <c:pt idx="12">
                  <c:v>31700</c:v>
                </c:pt>
                <c:pt idx="13">
                  <c:v>34400</c:v>
                </c:pt>
                <c:pt idx="14">
                  <c:v>32800</c:v>
                </c:pt>
                <c:pt idx="15">
                  <c:v>34500</c:v>
                </c:pt>
                <c:pt idx="16">
                  <c:v>35800</c:v>
                </c:pt>
                <c:pt idx="17">
                  <c:v>34900</c:v>
                </c:pt>
                <c:pt idx="18">
                  <c:v>34900</c:v>
                </c:pt>
                <c:pt idx="19">
                  <c:v>33300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ln w="2540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23700</c:v>
                </c:pt>
                <c:pt idx="6">
                  <c:v>22350</c:v>
                </c:pt>
                <c:pt idx="7">
                  <c:v>24800</c:v>
                </c:pt>
                <c:pt idx="8">
                  <c:v>23150</c:v>
                </c:pt>
                <c:pt idx="9">
                  <c:v>24300</c:v>
                </c:pt>
                <c:pt idx="10">
                  <c:v>22800</c:v>
                </c:pt>
                <c:pt idx="11">
                  <c:v>23750</c:v>
                </c:pt>
                <c:pt idx="12">
                  <c:v>22900</c:v>
                </c:pt>
                <c:pt idx="13">
                  <c:v>25750</c:v>
                </c:pt>
                <c:pt idx="14">
                  <c:v>25800</c:v>
                </c:pt>
                <c:pt idx="15">
                  <c:v>25800</c:v>
                </c:pt>
                <c:pt idx="16">
                  <c:v>25550</c:v>
                </c:pt>
                <c:pt idx="17">
                  <c:v>25250</c:v>
                </c:pt>
                <c:pt idx="18">
                  <c:v>24150</c:v>
                </c:pt>
                <c:pt idx="19">
                  <c:v>22950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ln w="25400" cap="flat">
              <a:solidFill>
                <a:srgbClr val="D32F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32F2F"/>
              </a:solidFill>
              <a:ln w="9525" cap="flat">
                <a:solidFill>
                  <a:srgbClr val="D32F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33100</c:v>
                </c:pt>
                <c:pt idx="6">
                  <c:v>32550</c:v>
                </c:pt>
                <c:pt idx="7">
                  <c:v>33700</c:v>
                </c:pt>
                <c:pt idx="8">
                  <c:v>33250</c:v>
                </c:pt>
                <c:pt idx="9">
                  <c:v>32850</c:v>
                </c:pt>
                <c:pt idx="10">
                  <c:v>31800</c:v>
                </c:pt>
                <c:pt idx="11">
                  <c:v>32400</c:v>
                </c:pt>
                <c:pt idx="12">
                  <c:v>33000</c:v>
                </c:pt>
                <c:pt idx="13">
                  <c:v>38150</c:v>
                </c:pt>
                <c:pt idx="14">
                  <c:v>37800</c:v>
                </c:pt>
                <c:pt idx="15">
                  <c:v>37050</c:v>
                </c:pt>
                <c:pt idx="16">
                  <c:v>39700</c:v>
                </c:pt>
                <c:pt idx="17">
                  <c:v>38350</c:v>
                </c:pt>
                <c:pt idx="18">
                  <c:v>37150</c:v>
                </c:pt>
                <c:pt idx="19">
                  <c:v>38000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ln w="25400" cap="flat">
              <a:solidFill>
                <a:srgbClr val="6161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16161"/>
              </a:solidFill>
              <a:ln w="9525" cap="flat">
                <a:solidFill>
                  <a:srgbClr val="6161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</c:lvl>
              </c:multiLvlStrCache>
            </c:multiLvl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27700</c:v>
                </c:pt>
                <c:pt idx="6">
                  <c:v>26400</c:v>
                </c:pt>
                <c:pt idx="7">
                  <c:v>28800</c:v>
                </c:pt>
                <c:pt idx="8">
                  <c:v>27750</c:v>
                </c:pt>
                <c:pt idx="9">
                  <c:v>28450</c:v>
                </c:pt>
                <c:pt idx="10">
                  <c:v>26800</c:v>
                </c:pt>
                <c:pt idx="11">
                  <c:v>26950</c:v>
                </c:pt>
                <c:pt idx="12">
                  <c:v>26900</c:v>
                </c:pt>
                <c:pt idx="13">
                  <c:v>29150</c:v>
                </c:pt>
                <c:pt idx="14">
                  <c:v>29150</c:v>
                </c:pt>
                <c:pt idx="15">
                  <c:v>29650</c:v>
                </c:pt>
                <c:pt idx="16">
                  <c:v>29800</c:v>
                </c:pt>
                <c:pt idx="17">
                  <c:v>29700</c:v>
                </c:pt>
                <c:pt idx="18">
                  <c:v>28250</c:v>
                </c:pt>
                <c:pt idx="19">
                  <c:v>26900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 (INR/kg)</c:v>
                </c:pt>
              </c:strCache>
            </c:strRef>
          </c:tx>
          <c:spPr>
            <a:solidFill>
              <a:srgbClr val="FF8F00"/>
            </a:solidFill>
            <a:ln w="2540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</c:lvl>
              </c:multiLvlStrCache>
            </c:multiLvl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26200</c:v>
                </c:pt>
                <c:pt idx="1">
                  <c:v>27920</c:v>
                </c:pt>
                <c:pt idx="2">
                  <c:v>28560.000000000004</c:v>
                </c:pt>
                <c:pt idx="3">
                  <c:v>29200</c:v>
                </c:pt>
                <c:pt idx="4">
                  <c:v>28320</c:v>
                </c:pt>
                <c:pt idx="5">
                  <c:v>28880</c:v>
                </c:pt>
                <c:pt idx="6">
                  <c:v>28920</c:v>
                </c:pt>
                <c:pt idx="7">
                  <c:v>28920</c:v>
                </c:pt>
                <c:pt idx="8">
                  <c:v>27960.000000000004</c:v>
                </c:pt>
                <c:pt idx="9">
                  <c:v>27960.000000000004</c:v>
                </c:pt>
                <c:pt idx="10">
                  <c:v>28800</c:v>
                </c:pt>
                <c:pt idx="11">
                  <c:v>27960.000000000004</c:v>
                </c:pt>
                <c:pt idx="12">
                  <c:v>27720</c:v>
                </c:pt>
                <c:pt idx="13">
                  <c:v>29239.999999999996</c:v>
                </c:pt>
                <c:pt idx="14">
                  <c:v>29280</c:v>
                </c:pt>
                <c:pt idx="15">
                  <c:v>30200</c:v>
                </c:pt>
                <c:pt idx="16">
                  <c:v>31920</c:v>
                </c:pt>
                <c:pt idx="17">
                  <c:v>29680</c:v>
                </c:pt>
                <c:pt idx="18">
                  <c:v>30880</c:v>
                </c:pt>
                <c:pt idx="19">
                  <c:v>30000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R:-516 | N:-67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1458.55</c:v>
                </c:pt>
                <c:pt idx="6">
                  <c:v>902.54</c:v>
                </c:pt>
                <c:pt idx="7">
                  <c:v>-1172.9</c:v>
                </c:pt>
                <c:pt idx="8">
                  <c:v>-485.6</c:v>
                </c:pt>
                <c:pt idx="9">
                  <c:v>-1776.62</c:v>
                </c:pt>
                <c:pt idx="10">
                  <c:v>-1433.88</c:v>
                </c:pt>
                <c:pt idx="11">
                  <c:v>-1189.77</c:v>
                </c:pt>
                <c:pt idx="12">
                  <c:v>618.4</c:v>
                </c:pt>
                <c:pt idx="13">
                  <c:v>433.02</c:v>
                </c:pt>
                <c:pt idx="14">
                  <c:v>-610.99</c:v>
                </c:pt>
                <c:pt idx="15">
                  <c:v>509.7</c:v>
                </c:pt>
                <c:pt idx="16">
                  <c:v>1241.26</c:v>
                </c:pt>
                <c:pt idx="17">
                  <c:v>-618.18</c:v>
                </c:pt>
                <c:pt idx="18">
                  <c:v>213.13</c:v>
                </c:pt>
                <c:pt idx="19">
                  <c:v>-302.61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R:-516 | N:-67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318.45</c:v>
                </c:pt>
                <c:pt idx="6">
                  <c:v>544.96</c:v>
                </c:pt>
                <c:pt idx="7">
                  <c:v>-919.91</c:v>
                </c:pt>
                <c:pt idx="8">
                  <c:v>-610.19</c:v>
                </c:pt>
                <c:pt idx="9">
                  <c:v>-1076.88</c:v>
                </c:pt>
                <c:pt idx="10">
                  <c:v>-869.46</c:v>
                </c:pt>
                <c:pt idx="11">
                  <c:v>-613.2</c:v>
                </c:pt>
                <c:pt idx="12">
                  <c:v>-70.46</c:v>
                </c:pt>
                <c:pt idx="13">
                  <c:v>741.76</c:v>
                </c:pt>
                <c:pt idx="14">
                  <c:v>-105.68</c:v>
                </c:pt>
                <c:pt idx="15">
                  <c:v>172.45</c:v>
                </c:pt>
                <c:pt idx="16">
                  <c:v>217.12</c:v>
                </c:pt>
                <c:pt idx="17">
                  <c:v>-419.08</c:v>
                </c:pt>
                <c:pt idx="18">
                  <c:v>-78.78</c:v>
                </c:pt>
                <c:pt idx="19">
                  <c:v>-145.94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R:-1,157 | N:-1,756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2227.82</c:v>
                </c:pt>
                <c:pt idx="6">
                  <c:v>1583.36</c:v>
                </c:pt>
                <c:pt idx="7">
                  <c:v>-1162.28</c:v>
                </c:pt>
                <c:pt idx="8">
                  <c:v>-262.29</c:v>
                </c:pt>
                <c:pt idx="9">
                  <c:v>-1411.63</c:v>
                </c:pt>
                <c:pt idx="10">
                  <c:v>-1554.96</c:v>
                </c:pt>
                <c:pt idx="11">
                  <c:v>-1118.49</c:v>
                </c:pt>
                <c:pt idx="12">
                  <c:v>594.55</c:v>
                </c:pt>
                <c:pt idx="13">
                  <c:v>1130.09</c:v>
                </c:pt>
                <c:pt idx="14">
                  <c:v>536.13</c:v>
                </c:pt>
                <c:pt idx="15">
                  <c:v>2456.18</c:v>
                </c:pt>
                <c:pt idx="16">
                  <c:v>2635.19</c:v>
                </c:pt>
                <c:pt idx="17">
                  <c:v>-169.52</c:v>
                </c:pt>
                <c:pt idx="18">
                  <c:v>22.04</c:v>
                </c:pt>
                <c:pt idx="19">
                  <c:v>-1134.63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R:-1,157 | N:-1,756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2211.4</c:v>
                </c:pt>
                <c:pt idx="6">
                  <c:v>2045.32</c:v>
                </c:pt>
                <c:pt idx="7">
                  <c:v>971.93</c:v>
                </c:pt>
                <c:pt idx="8">
                  <c:v>193.73</c:v>
                </c:pt>
                <c:pt idx="9">
                  <c:v>-279.89</c:v>
                </c:pt>
                <c:pt idx="10">
                  <c:v>-859.62</c:v>
                </c:pt>
                <c:pt idx="11">
                  <c:v>-565.31</c:v>
                </c:pt>
                <c:pt idx="12">
                  <c:v>630.58</c:v>
                </c:pt>
                <c:pt idx="13">
                  <c:v>2214.89</c:v>
                </c:pt>
                <c:pt idx="14">
                  <c:v>2774.28</c:v>
                </c:pt>
                <c:pt idx="15">
                  <c:v>4245.83</c:v>
                </c:pt>
                <c:pt idx="16">
                  <c:v>2032.86</c:v>
                </c:pt>
                <c:pt idx="17">
                  <c:v>1653.57</c:v>
                </c:pt>
                <c:pt idx="18">
                  <c:v>1198.99</c:v>
                </c:pt>
                <c:pt idx="19">
                  <c:v>-557.51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raw material prices and margin trends with period-on-period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2026-07-14  |  20 months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-300  |  NCR -1,600     •     Avg:  Raipur 32,653  |  NCR 32,990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-1,200 INR/MT  |  Pig Iron: +850 INR/MT  |  Iron Ore DRI: -1,350 INR/MT  |  Silico Manganese: -2.2 INR/kg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-516  |  NCR -67     •     Avg:  Raipur 58  |  NCR -125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-1,157  |  NCR -1,756     •     Avg:  Raipur 535  |  NCR 1,321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2026-07-15T04:41:49Z</dcterms:created>
  <dcterms:modified xsi:type="dcterms:W3CDTF">2026-07-15T04:41:49Z</dcterms:modified>
</cp:coreProperties>
</file>