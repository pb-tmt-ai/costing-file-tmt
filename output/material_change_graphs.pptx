
<file path=[Content_Types].xml><?xml version="1.0" encoding="utf-8"?>
<ns0:Types xmlns:ns0="http://schemas.openxmlformats.org/package/2006/content-types">
  <ns0:Default Extension="xml" ContentType="application/xml"/>
  <ns0:Default Extension="rels" ContentType="application/vnd.openxmlformats-package.relationships+xml"/>
  <ns0:Default Extension="jpeg" ContentType="image/jpeg"/>
  <ns0:Default Extension="jpg" ContentType="image/jpg"/>
  <ns0:Default Extension="svg" ContentType="image/svg+xml"/>
  <ns0:Default Extension="png" ContentType="image/png"/>
  <ns0:Default Extension="gif" ContentType="image/gif"/>
  <ns0:Default Extension="m4v" ContentType="video/mp4"/>
  <ns0:Default Extension="mp4" ContentType="video/mp4"/>
  <ns0:Default Extension="vml" ContentType="application/vnd.openxmlformats-officedocument.vmlDrawing"/>
  <ns0:Default Extension="xlsx" ContentType="application/vnd.openxmlformats-officedocument.spreadsheetml.sheet"/>
  <ns0:Override PartName="/ppt/presentation.xml" ContentType="application/vnd.openxmlformats-officedocument.presentationml.presentation.main+xml"/>
  <ns0:Override PartName="/ppt/notesMasters/notesMaster1.xml" ContentType="application/vnd.openxmlformats-officedocument.presentationml.notesMaster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charts/chart1.xml" ContentType="application/vnd.openxmlformats-officedocument.drawingml.chart+xml"/>
  <ns0:Override PartName="/ppt/slides/slide3.xml" ContentType="application/vnd.openxmlformats-officedocument.presentationml.slide+xml"/>
  <ns0:Override PartName="/ppt/charts/chart2.xml" ContentType="application/vnd.openxmlformats-officedocument.drawingml.chart+xml"/>
  <ns0:Override PartName="/ppt/slides/slide4.xml" ContentType="application/vnd.openxmlformats-officedocument.presentationml.slide+xml"/>
  <ns0:Override PartName="/ppt/charts/chart3.xml" ContentType="application/vnd.openxmlformats-officedocument.drawingml.chart+xml"/>
  <ns0:Override PartName="/ppt/slides/slide5.xml" ContentType="application/vnd.openxmlformats-officedocument.presentationml.slide+xml"/>
  <ns0:Override PartName="/ppt/charts/chart4.xml" ContentType="application/vnd.openxmlformats-officedocument.drawingml.chart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heme/theme1.xml" ContentType="application/vnd.openxmlformats-officedocument.theme+xml"/>
  <ns0:Override PartName="/ppt/tableStyles.xml" ContentType="application/vnd.openxmlformats-officedocument.presentationml.tableStyles+xml"/>
  <ns0:Override PartName="/ppt/slideLayouts/slideLayout1.xml" ContentType="application/vnd.openxmlformats-officedocument.presentationml.slideLayout+xml"/>
  <ns0:Override PartName="/ppt/notesSlides/notesSlide1.xml" ContentType="application/vnd.openxmlformats-officedocument.presentationml.notesSlide+xml"/>
  <ns0:Override PartName="/ppt/notesSlides/notesSlide2.xml" ContentType="application/vnd.openxmlformats-officedocument.presentationml.notesSlide+xml"/>
  <ns0:Override PartName="/ppt/notesSlides/notesSlide3.xml" ContentType="application/vnd.openxmlformats-officedocument.presentationml.notesSlide+xml"/>
  <ns0:Override PartName="/ppt/notesSlides/notesSlide4.xml" ContentType="application/vnd.openxmlformats-officedocument.presentationml.notesSlide+xml"/>
  <ns0:Override PartName="/ppt/notesSlides/notesSlide5.xml" ContentType="application/vnd.openxmlformats-officedocument.presentationml.notesSlide+xml"/>
  <ns0:Override PartName="/docProps/core.xml" ContentType="application/vnd.openxmlformats-package.core-properties+xml"/>
  <ns0:Override PartName="/docProps/app.xml" ContentType="application/vnd.openxmlformats-officedocument.extended-properties+xml"/>
</ns0: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
R:+700 | N:-300</c:v>
                  </c:pt>
                  <c:pt idx="2">
                    <c:v>Feb'25
R:+800 | N:+900</c:v>
                  </c:pt>
                  <c:pt idx="3">
                    <c:v>Mar'25
R:+600 | N:-500</c:v>
                  </c:pt>
                  <c:pt idx="4">
                    <c:v>Apr'25
R:-700 | N:+600</c:v>
                  </c:pt>
                  <c:pt idx="5">
                    <c:v>May'25
R:-900 | N:-1,000</c:v>
                  </c:pt>
                  <c:pt idx="6">
                    <c:v>Jun'25
R:-700 | N:-400</c:v>
                  </c:pt>
                  <c:pt idx="7">
                    <c:v>Jul'25
R:+100 | N:-500</c:v>
                  </c:pt>
                  <c:pt idx="8">
                    <c:v>Aug'25
R:+300 | N:-1,200</c:v>
                  </c:pt>
                  <c:pt idx="9">
                    <c:v>Sep'25
R:+300 | N:+700</c:v>
                  </c:pt>
                  <c:pt idx="10">
                    <c:v>Oct'25
R:-1,600 | N:-1,500</c:v>
                  </c:pt>
                  <c:pt idx="11">
                    <c:v>Nov'25
R:+800 | N:+1,900</c:v>
                  </c:pt>
                  <c:pt idx="12">
                    <c:v>Dec'25
R:+500 | N:-100</c:v>
                  </c:pt>
                  <c:pt idx="13">
                    <c:v>Jan'26
R:+2,250 | N:+2,700</c:v>
                  </c:pt>
                  <c:pt idx="14">
                    <c:v>Feb'26
R:-50 | N:-1,600</c:v>
                  </c:pt>
                  <c:pt idx="15">
                    <c:v>Mar'26
R:+800 | N:+1,700</c:v>
                  </c:pt>
                  <c:pt idx="16">
                    <c:v>Apr'26
R:+1,800 | N:+2,800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31300</c:v>
                </c:pt>
                <c:pt idx="1">
                  <c:v>32000</c:v>
                </c:pt>
                <c:pt idx="2">
                  <c:v>32800</c:v>
                </c:pt>
                <c:pt idx="3">
                  <c:v>33400</c:v>
                </c:pt>
                <c:pt idx="4">
                  <c:v>32700</c:v>
                </c:pt>
                <c:pt idx="5">
                  <c:v>31800</c:v>
                </c:pt>
                <c:pt idx="6">
                  <c:v>31100</c:v>
                </c:pt>
                <c:pt idx="7">
                  <c:v>31200</c:v>
                </c:pt>
                <c:pt idx="8">
                  <c:v>31500</c:v>
                </c:pt>
                <c:pt idx="9">
                  <c:v>31800</c:v>
                </c:pt>
                <c:pt idx="10">
                  <c:v>30200</c:v>
                </c:pt>
                <c:pt idx="11">
                  <c:v>31000</c:v>
                </c:pt>
                <c:pt idx="12">
                  <c:v>31500</c:v>
                </c:pt>
                <c:pt idx="13">
                  <c:v>33750</c:v>
                </c:pt>
                <c:pt idx="14">
                  <c:v>33700</c:v>
                </c:pt>
                <c:pt idx="15">
                  <c:v>34500</c:v>
                </c:pt>
                <c:pt idx="16">
                  <c:v>36300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
R:+700 | N:-300</c:v>
                  </c:pt>
                  <c:pt idx="2">
                    <c:v>Feb'25
R:+800 | N:+900</c:v>
                  </c:pt>
                  <c:pt idx="3">
                    <c:v>Mar'25
R:+600 | N:-500</c:v>
                  </c:pt>
                  <c:pt idx="4">
                    <c:v>Apr'25
R:-700 | N:+600</c:v>
                  </c:pt>
                  <c:pt idx="5">
                    <c:v>May'25
R:-900 | N:-1,000</c:v>
                  </c:pt>
                  <c:pt idx="6">
                    <c:v>Jun'25
R:-700 | N:-400</c:v>
                  </c:pt>
                  <c:pt idx="7">
                    <c:v>Jul'25
R:+100 | N:-500</c:v>
                  </c:pt>
                  <c:pt idx="8">
                    <c:v>Aug'25
R:+300 | N:-1,200</c:v>
                  </c:pt>
                  <c:pt idx="9">
                    <c:v>Sep'25
R:+300 | N:+700</c:v>
                  </c:pt>
                  <c:pt idx="10">
                    <c:v>Oct'25
R:-1,600 | N:-1,500</c:v>
                  </c:pt>
                  <c:pt idx="11">
                    <c:v>Nov'25
R:+800 | N:+1,900</c:v>
                  </c:pt>
                  <c:pt idx="12">
                    <c:v>Dec'25
R:+500 | N:-100</c:v>
                  </c:pt>
                  <c:pt idx="13">
                    <c:v>Jan'26
R:+2,250 | N:+2,700</c:v>
                  </c:pt>
                  <c:pt idx="14">
                    <c:v>Feb'26
R:-50 | N:-1,600</c:v>
                  </c:pt>
                  <c:pt idx="15">
                    <c:v>Mar'26
R:+800 | N:+1,700</c:v>
                  </c:pt>
                  <c:pt idx="16">
                    <c:v>Apr'26
R:+1,800 | N:+2,800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33100</c:v>
                </c:pt>
                <c:pt idx="1">
                  <c:v>32800</c:v>
                </c:pt>
                <c:pt idx="2">
                  <c:v>33700</c:v>
                </c:pt>
                <c:pt idx="3">
                  <c:v>33200</c:v>
                </c:pt>
                <c:pt idx="4">
                  <c:v>33800</c:v>
                </c:pt>
                <c:pt idx="5">
                  <c:v>32800</c:v>
                </c:pt>
                <c:pt idx="6">
                  <c:v>32400</c:v>
                </c:pt>
                <c:pt idx="7">
                  <c:v>31900</c:v>
                </c:pt>
                <c:pt idx="8">
                  <c:v>30700</c:v>
                </c:pt>
                <c:pt idx="9">
                  <c:v>31400</c:v>
                </c:pt>
                <c:pt idx="10">
                  <c:v>29900</c:v>
                </c:pt>
                <c:pt idx="11">
                  <c:v>31800</c:v>
                </c:pt>
                <c:pt idx="12">
                  <c:v>31700</c:v>
                </c:pt>
                <c:pt idx="13">
                  <c:v>34400</c:v>
                </c:pt>
                <c:pt idx="14">
                  <c:v>32800</c:v>
                </c:pt>
                <c:pt idx="15">
                  <c:v>34500</c:v>
                </c:pt>
                <c:pt idx="16">
                  <c:v>37300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Pallet DRI</c:v>
                </c:pt>
              </c:strCache>
            </c:strRef>
          </c:tx>
          <c:spPr>
            <a:solidFill>
              <a:srgbClr val="1565C0"/>
            </a:solidFill>
            <a:ln w="25400" cap="flat">
              <a:solidFill>
                <a:srgbClr val="1565C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565C0"/>
              </a:solidFill>
              <a:ln w="9525" cap="flat">
                <a:solidFill>
                  <a:srgbClr val="1565C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24200</c:v>
                </c:pt>
                <c:pt idx="1">
                  <c:v>24100</c:v>
                </c:pt>
                <c:pt idx="2">
                  <c:v>24900</c:v>
                </c:pt>
                <c:pt idx="3">
                  <c:v>25050</c:v>
                </c:pt>
                <c:pt idx="4">
                  <c:v>24700</c:v>
                </c:pt>
                <c:pt idx="5">
                  <c:v>23700</c:v>
                </c:pt>
                <c:pt idx="6">
                  <c:v>22350</c:v>
                </c:pt>
                <c:pt idx="7">
                  <c:v>24800</c:v>
                </c:pt>
                <c:pt idx="8">
                  <c:v>23150</c:v>
                </c:pt>
                <c:pt idx="9">
                  <c:v>24300</c:v>
                </c:pt>
                <c:pt idx="10">
                  <c:v>22800</c:v>
                </c:pt>
                <c:pt idx="11">
                  <c:v>23750</c:v>
                </c:pt>
                <c:pt idx="12">
                  <c:v>22900</c:v>
                </c:pt>
                <c:pt idx="13">
                  <c:v>25750</c:v>
                </c:pt>
                <c:pt idx="14">
                  <c:v>25800</c:v>
                </c:pt>
                <c:pt idx="15">
                  <c:v>25800</c:v>
                </c:pt>
                <c:pt idx="16">
                  <c:v>27050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Pig Iron</c:v>
                </c:pt>
              </c:strCache>
            </c:strRef>
          </c:tx>
          <c:spPr>
            <a:solidFill>
              <a:srgbClr val="D32F2F"/>
            </a:solidFill>
            <a:ln w="25400" cap="flat">
              <a:solidFill>
                <a:srgbClr val="D32F2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32F2F"/>
              </a:solidFill>
              <a:ln w="9525" cap="flat">
                <a:solidFill>
                  <a:srgbClr val="D32F2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32550</c:v>
                </c:pt>
                <c:pt idx="1">
                  <c:v>32400</c:v>
                </c:pt>
                <c:pt idx="2">
                  <c:v>33200</c:v>
                </c:pt>
                <c:pt idx="3">
                  <c:v>36250</c:v>
                </c:pt>
                <c:pt idx="4">
                  <c:v>34800</c:v>
                </c:pt>
                <c:pt idx="5">
                  <c:v>33100</c:v>
                </c:pt>
                <c:pt idx="6">
                  <c:v>32550</c:v>
                </c:pt>
                <c:pt idx="7">
                  <c:v>33700</c:v>
                </c:pt>
                <c:pt idx="8">
                  <c:v>33250</c:v>
                </c:pt>
                <c:pt idx="9">
                  <c:v>32850</c:v>
                </c:pt>
                <c:pt idx="10">
                  <c:v>31800</c:v>
                </c:pt>
                <c:pt idx="11">
                  <c:v>32400</c:v>
                </c:pt>
                <c:pt idx="12">
                  <c:v>33000</c:v>
                </c:pt>
                <c:pt idx="13">
                  <c:v>38150</c:v>
                </c:pt>
                <c:pt idx="14">
                  <c:v>37800</c:v>
                </c:pt>
                <c:pt idx="15">
                  <c:v>37050</c:v>
                </c:pt>
                <c:pt idx="16">
                  <c:v>39700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Iron Ore DRI</c:v>
                </c:pt>
              </c:strCache>
            </c:strRef>
          </c:tx>
          <c:spPr>
            <a:solidFill>
              <a:srgbClr val="616161"/>
            </a:solidFill>
            <a:ln w="25400" cap="flat">
              <a:solidFill>
                <a:srgbClr val="6161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16161"/>
              </a:solidFill>
              <a:ln w="9525" cap="flat">
                <a:solidFill>
                  <a:srgbClr val="6161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</c:lvl>
              </c:multiLvlStrCache>
            </c:multiLvlStrRef>
          </c:cat>
          <c:val>
            <c:numRef>
              <c:f>Sheet1!$D$2:$D$18</c:f>
              <c:numCache>
                <c:formatCode>General</c:formatCode>
                <c:ptCount val="17"/>
                <c:pt idx="0">
                  <c:v>28800</c:v>
                </c:pt>
                <c:pt idx="1">
                  <c:v>29000</c:v>
                </c:pt>
                <c:pt idx="2">
                  <c:v>29600</c:v>
                </c:pt>
                <c:pt idx="3">
                  <c:v>29000</c:v>
                </c:pt>
                <c:pt idx="4">
                  <c:v>29000</c:v>
                </c:pt>
                <c:pt idx="5">
                  <c:v>27700</c:v>
                </c:pt>
                <c:pt idx="6">
                  <c:v>26400</c:v>
                </c:pt>
                <c:pt idx="7">
                  <c:v>28800</c:v>
                </c:pt>
                <c:pt idx="8">
                  <c:v>27750</c:v>
                </c:pt>
                <c:pt idx="9">
                  <c:v>28450</c:v>
                </c:pt>
                <c:pt idx="10">
                  <c:v>26800</c:v>
                </c:pt>
                <c:pt idx="11">
                  <c:v>26950</c:v>
                </c:pt>
                <c:pt idx="12">
                  <c:v>26900</c:v>
                </c:pt>
                <c:pt idx="13">
                  <c:v>29150</c:v>
                </c:pt>
                <c:pt idx="14">
                  <c:v>29150</c:v>
                </c:pt>
                <c:pt idx="15">
                  <c:v>29650</c:v>
                </c:pt>
                <c:pt idx="16">
                  <c:v>31000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Silico Manganese (INR/kg)</c:v>
                </c:pt>
              </c:strCache>
            </c:strRef>
          </c:tx>
          <c:spPr>
            <a:solidFill>
              <a:srgbClr val="FF8F00"/>
            </a:solidFill>
            <a:ln w="25400" cap="flat">
              <a:solidFill>
                <a:srgbClr val="FF8F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8F00"/>
              </a:solidFill>
              <a:ln w="9525" cap="flat">
                <a:solidFill>
                  <a:srgbClr val="FF8F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</c:lvl>
              </c:multiLvlStrCache>
            </c:multiLvlStrRef>
          </c:cat>
          <c:val>
            <c:numRef>
              <c:f>Sheet1!$E$2:$E$18</c:f>
              <c:numCache>
                <c:formatCode>General</c:formatCode>
                <c:ptCount val="17"/>
                <c:pt idx="0">
                  <c:v>26200</c:v>
                </c:pt>
                <c:pt idx="1">
                  <c:v>27920</c:v>
                </c:pt>
                <c:pt idx="2">
                  <c:v>28560.000000000004</c:v>
                </c:pt>
                <c:pt idx="3">
                  <c:v>29200</c:v>
                </c:pt>
                <c:pt idx="4">
                  <c:v>28320</c:v>
                </c:pt>
                <c:pt idx="5">
                  <c:v>28880</c:v>
                </c:pt>
                <c:pt idx="6">
                  <c:v>28920</c:v>
                </c:pt>
                <c:pt idx="7">
                  <c:v>28920</c:v>
                </c:pt>
                <c:pt idx="8">
                  <c:v>27960.000000000004</c:v>
                </c:pt>
                <c:pt idx="9">
                  <c:v>27960.000000000004</c:v>
                </c:pt>
                <c:pt idx="10">
                  <c:v>28800</c:v>
                </c:pt>
                <c:pt idx="11">
                  <c:v>27960.000000000004</c:v>
                </c:pt>
                <c:pt idx="12">
                  <c:v>27720</c:v>
                </c:pt>
                <c:pt idx="13">
                  <c:v>29239.999999999996</c:v>
                </c:pt>
                <c:pt idx="14">
                  <c:v>29280</c:v>
                </c:pt>
                <c:pt idx="15">
                  <c:v>30200</c:v>
                </c:pt>
                <c:pt idx="16">
                  <c:v>34840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
R:+97 | N:+263</c:v>
                  </c:pt>
                  <c:pt idx="2">
                    <c:v>Feb'25
R:-409 | N:-178</c:v>
                  </c:pt>
                  <c:pt idx="3">
                    <c:v>Mar'25
R:+220 | N:-523</c:v>
                  </c:pt>
                  <c:pt idx="4">
                    <c:v>Apr'25
R:+1,186 | N:+522</c:v>
                  </c:pt>
                  <c:pt idx="5">
                    <c:v>May'25
R:-154 | N:+149</c:v>
                  </c:pt>
                  <c:pt idx="6">
                    <c:v>Jun'25
R:-556 | N:+227</c:v>
                  </c:pt>
                  <c:pt idx="7">
                    <c:v>Jul'25
R:-2,075 | N:-1,465</c:v>
                  </c:pt>
                  <c:pt idx="8">
                    <c:v>Aug'25
R:+687 | N:+310</c:v>
                  </c:pt>
                  <c:pt idx="9">
                    <c:v>Sep'25
R:-1,291 | N:-467</c:v>
                  </c:pt>
                  <c:pt idx="10">
                    <c:v>Oct'25
R:+343 | N:+207</c:v>
                  </c:pt>
                  <c:pt idx="11">
                    <c:v>Nov'25
R:+244 | N:+256</c:v>
                  </c:pt>
                  <c:pt idx="12">
                    <c:v>Dec'25
R:+1,808 | N:+543</c:v>
                  </c:pt>
                  <c:pt idx="13">
                    <c:v>Jan'26
R:-185 | N:+812</c:v>
                  </c:pt>
                  <c:pt idx="14">
                    <c:v>Feb'26
R:-1,044 | N:-847</c:v>
                  </c:pt>
                  <c:pt idx="15">
                    <c:v>Mar'26
R:+1,121 | N:+278</c:v>
                  </c:pt>
                  <c:pt idx="16">
                    <c:v>Apr'26
R:+239 | N:+340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518.69</c:v>
                </c:pt>
                <c:pt idx="1">
                  <c:v>615.92</c:v>
                </c:pt>
                <c:pt idx="2">
                  <c:v>206.63</c:v>
                </c:pt>
                <c:pt idx="3">
                  <c:v>426.29</c:v>
                </c:pt>
                <c:pt idx="4">
                  <c:v>1612.62</c:v>
                </c:pt>
                <c:pt idx="5">
                  <c:v>1458.55</c:v>
                </c:pt>
                <c:pt idx="6">
                  <c:v>902.54</c:v>
                </c:pt>
                <c:pt idx="7">
                  <c:v>-1172.9</c:v>
                </c:pt>
                <c:pt idx="8">
                  <c:v>-485.6</c:v>
                </c:pt>
                <c:pt idx="9">
                  <c:v>-1776.62</c:v>
                </c:pt>
                <c:pt idx="10">
                  <c:v>-1433.88</c:v>
                </c:pt>
                <c:pt idx="11">
                  <c:v>-1189.77</c:v>
                </c:pt>
                <c:pt idx="12">
                  <c:v>618.4</c:v>
                </c:pt>
                <c:pt idx="13">
                  <c:v>433.02</c:v>
                </c:pt>
                <c:pt idx="14">
                  <c:v>-610.99</c:v>
                </c:pt>
                <c:pt idx="15">
                  <c:v>509.7</c:v>
                </c:pt>
                <c:pt idx="16">
                  <c:v>748.29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
R:+97 | N:+263</c:v>
                  </c:pt>
                  <c:pt idx="2">
                    <c:v>Feb'25
R:-409 | N:-178</c:v>
                  </c:pt>
                  <c:pt idx="3">
                    <c:v>Mar'25
R:+220 | N:-523</c:v>
                  </c:pt>
                  <c:pt idx="4">
                    <c:v>Apr'25
R:+1,186 | N:+522</c:v>
                  </c:pt>
                  <c:pt idx="5">
                    <c:v>May'25
R:-154 | N:+149</c:v>
                  </c:pt>
                  <c:pt idx="6">
                    <c:v>Jun'25
R:-556 | N:+227</c:v>
                  </c:pt>
                  <c:pt idx="7">
                    <c:v>Jul'25
R:-2,075 | N:-1,465</c:v>
                  </c:pt>
                  <c:pt idx="8">
                    <c:v>Aug'25
R:+687 | N:+310</c:v>
                  </c:pt>
                  <c:pt idx="9">
                    <c:v>Sep'25
R:-1,291 | N:-467</c:v>
                  </c:pt>
                  <c:pt idx="10">
                    <c:v>Oct'25
R:+343 | N:+207</c:v>
                  </c:pt>
                  <c:pt idx="11">
                    <c:v>Nov'25
R:+244 | N:+256</c:v>
                  </c:pt>
                  <c:pt idx="12">
                    <c:v>Dec'25
R:+1,808 | N:+543</c:v>
                  </c:pt>
                  <c:pt idx="13">
                    <c:v>Jan'26
R:-185 | N:+812</c:v>
                  </c:pt>
                  <c:pt idx="14">
                    <c:v>Feb'26
R:-1,044 | N:-847</c:v>
                  </c:pt>
                  <c:pt idx="15">
                    <c:v>Mar'26
R:+1,121 | N:+278</c:v>
                  </c:pt>
                  <c:pt idx="16">
                    <c:v>Apr'26
R:+239 | N:+340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85.71</c:v>
                </c:pt>
                <c:pt idx="1">
                  <c:v>349.01</c:v>
                </c:pt>
                <c:pt idx="2">
                  <c:v>170.92</c:v>
                </c:pt>
                <c:pt idx="3">
                  <c:v>-352.58</c:v>
                </c:pt>
                <c:pt idx="4">
                  <c:v>169.18</c:v>
                </c:pt>
                <c:pt idx="5">
                  <c:v>318.45</c:v>
                </c:pt>
                <c:pt idx="6">
                  <c:v>544.96</c:v>
                </c:pt>
                <c:pt idx="7">
                  <c:v>-919.91</c:v>
                </c:pt>
                <c:pt idx="8">
                  <c:v>-610.19</c:v>
                </c:pt>
                <c:pt idx="9">
                  <c:v>-1076.88</c:v>
                </c:pt>
                <c:pt idx="10">
                  <c:v>-869.46</c:v>
                </c:pt>
                <c:pt idx="11">
                  <c:v>-613.2</c:v>
                </c:pt>
                <c:pt idx="12">
                  <c:v>-70.46</c:v>
                </c:pt>
                <c:pt idx="13">
                  <c:v>741.76</c:v>
                </c:pt>
                <c:pt idx="14">
                  <c:v>-105.68</c:v>
                </c:pt>
                <c:pt idx="15">
                  <c:v>172.45</c:v>
                </c:pt>
                <c:pt idx="16">
                  <c:v>512.16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
R:-153 | N:-135</c:v>
                  </c:pt>
                  <c:pt idx="2">
                    <c:v>Feb'25
R:-267 | N:+114</c:v>
                  </c:pt>
                  <c:pt idx="3">
                    <c:v>Mar'25
R:+965 | N:+975</c:v>
                  </c:pt>
                  <c:pt idx="4">
                    <c:v>Apr'25
R:+1,891 | N:+872</c:v>
                  </c:pt>
                  <c:pt idx="5">
                    <c:v>May'25
R:-994 | N:-791</c:v>
                  </c:pt>
                  <c:pt idx="6">
                    <c:v>Jun'25
R:-644 | N:-166</c:v>
                  </c:pt>
                  <c:pt idx="7">
                    <c:v>Jul'25
R:-2,746 | N:-1,073</c:v>
                  </c:pt>
                  <c:pt idx="8">
                    <c:v>Aug'25
R:+900 | N:-778</c:v>
                  </c:pt>
                  <c:pt idx="9">
                    <c:v>Sep'25
R:-1,149 | N:-474</c:v>
                  </c:pt>
                  <c:pt idx="10">
                    <c:v>Oct'25
R:-143 | N:-580</c:v>
                  </c:pt>
                  <c:pt idx="11">
                    <c:v>Nov'25
R:+436 | N:+294</c:v>
                  </c:pt>
                  <c:pt idx="12">
                    <c:v>Dec'25
R:+1,713 | N:+1,196</c:v>
                  </c:pt>
                  <c:pt idx="13">
                    <c:v>Jan'26
R:+536 | N:+1,584</c:v>
                  </c:pt>
                  <c:pt idx="14">
                    <c:v>Feb'26
R:-594 | N:+559</c:v>
                  </c:pt>
                  <c:pt idx="15">
                    <c:v>Mar'26
R:+1,920 | N:+1,472</c:v>
                  </c:pt>
                  <c:pt idx="16">
                    <c:v>Apr'26
R:+273 | N:+669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785.24</c:v>
                </c:pt>
                <c:pt idx="1">
                  <c:v>632.04</c:v>
                </c:pt>
                <c:pt idx="2">
                  <c:v>365.08</c:v>
                </c:pt>
                <c:pt idx="3">
                  <c:v>1330.5</c:v>
                </c:pt>
                <c:pt idx="4">
                  <c:v>3221.52</c:v>
                </c:pt>
                <c:pt idx="5">
                  <c:v>2227.82</c:v>
                </c:pt>
                <c:pt idx="6">
                  <c:v>1583.36</c:v>
                </c:pt>
                <c:pt idx="7">
                  <c:v>-1162.28</c:v>
                </c:pt>
                <c:pt idx="8">
                  <c:v>-262.29</c:v>
                </c:pt>
                <c:pt idx="9">
                  <c:v>-1411.63</c:v>
                </c:pt>
                <c:pt idx="10">
                  <c:v>-1554.96</c:v>
                </c:pt>
                <c:pt idx="11">
                  <c:v>-1118.49</c:v>
                </c:pt>
                <c:pt idx="12">
                  <c:v>594.55</c:v>
                </c:pt>
                <c:pt idx="13">
                  <c:v>1130.09</c:v>
                </c:pt>
                <c:pt idx="14">
                  <c:v>536.13</c:v>
                </c:pt>
                <c:pt idx="15">
                  <c:v>2456.18</c:v>
                </c:pt>
                <c:pt idx="16">
                  <c:v>2729.48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
R:-153 | N:-135</c:v>
                  </c:pt>
                  <c:pt idx="2">
                    <c:v>Feb'25
R:-267 | N:+114</c:v>
                  </c:pt>
                  <c:pt idx="3">
                    <c:v>Mar'25
R:+965 | N:+975</c:v>
                  </c:pt>
                  <c:pt idx="4">
                    <c:v>Apr'25
R:+1,891 | N:+872</c:v>
                  </c:pt>
                  <c:pt idx="5">
                    <c:v>May'25
R:-994 | N:-791</c:v>
                  </c:pt>
                  <c:pt idx="6">
                    <c:v>Jun'25
R:-644 | N:-166</c:v>
                  </c:pt>
                  <c:pt idx="7">
                    <c:v>Jul'25
R:-2,746 | N:-1,073</c:v>
                  </c:pt>
                  <c:pt idx="8">
                    <c:v>Aug'25
R:+900 | N:-778</c:v>
                  </c:pt>
                  <c:pt idx="9">
                    <c:v>Sep'25
R:-1,149 | N:-474</c:v>
                  </c:pt>
                  <c:pt idx="10">
                    <c:v>Oct'25
R:-143 | N:-580</c:v>
                  </c:pt>
                  <c:pt idx="11">
                    <c:v>Nov'25
R:+436 | N:+294</c:v>
                  </c:pt>
                  <c:pt idx="12">
                    <c:v>Dec'25
R:+1,713 | N:+1,196</c:v>
                  </c:pt>
                  <c:pt idx="13">
                    <c:v>Jan'26
R:+536 | N:+1,584</c:v>
                  </c:pt>
                  <c:pt idx="14">
                    <c:v>Feb'26
R:-594 | N:+559</c:v>
                  </c:pt>
                  <c:pt idx="15">
                    <c:v>Mar'26
R:+1,920 | N:+1,472</c:v>
                  </c:pt>
                  <c:pt idx="16">
                    <c:v>Apr'26
R:+273 | N:+669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1176.79</c:v>
                </c:pt>
                <c:pt idx="1">
                  <c:v>1041.4</c:v>
                </c:pt>
                <c:pt idx="2">
                  <c:v>1155.49</c:v>
                </c:pt>
                <c:pt idx="3">
                  <c:v>2130.2</c:v>
                </c:pt>
                <c:pt idx="4">
                  <c:v>3002.54</c:v>
                </c:pt>
                <c:pt idx="5">
                  <c:v>2211.4</c:v>
                </c:pt>
                <c:pt idx="6">
                  <c:v>2045.32</c:v>
                </c:pt>
                <c:pt idx="7">
                  <c:v>971.93</c:v>
                </c:pt>
                <c:pt idx="8">
                  <c:v>193.73</c:v>
                </c:pt>
                <c:pt idx="9">
                  <c:v>-279.89</c:v>
                </c:pt>
                <c:pt idx="10">
                  <c:v>-859.62</c:v>
                </c:pt>
                <c:pt idx="11">
                  <c:v>-565.31</c:v>
                </c:pt>
                <c:pt idx="12">
                  <c:v>630.58</c:v>
                </c:pt>
                <c:pt idx="13">
                  <c:v>2214.89</c:v>
                </c:pt>
                <c:pt idx="14">
                  <c:v>2774.28</c:v>
                </c:pt>
                <c:pt idx="15">
                  <c:v>4245.83</c:v>
                </c:pt>
                <c:pt idx="16">
                  <c:v>4915.05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cost &amp; margin analysis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269748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269748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1920240"/>
            <a:ext cx="2194560" cy="7223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85216" y="2852928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raw material prices and margin trends with period-on-period changes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85216" y="3218688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Period: 2024-12-12 to 2026-04-10  |  17 months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+1,800  |  NCR +2,800     •     Avg:  Raipur 32,385  |  NCR 32,835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Materials — Raipur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change:  Pallet DRI: +1,250 INR/MT  |  Pig Iron: +2,650 INR/MT  |  Iron Ore DRI: +1,350 INR/MT  |  Silico Manganese: +11.6 INR/kg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 Margin Billet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+239  |  NCR +340     •     Avg:  Raipur 81  |  NCR -91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TMT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+273  |  NCR +669     •     Avg:  Raipur 711  |  NCR 1,589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2026-04-10T10:15:30Z</dcterms:created>
  <dcterms:modified xsi:type="dcterms:W3CDTF">2026-04-10T10:15:30Z</dcterms:modified>
</cp:coreProperties>
</file>