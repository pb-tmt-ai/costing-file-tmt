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36500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27400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38550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31400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3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</c:v>
                </c:pt>
              </c:strCache>
            </c:strRef>
          </c:tx>
          <c:spPr>
            <a:solidFill>
              <a:srgbClr val="FF8F00"/>
            </a:solidFill>
            <a:ln w="3175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65.5</c:v>
                </c:pt>
                <c:pt idx="1">
                  <c:v>69.8</c:v>
                </c:pt>
                <c:pt idx="2">
                  <c:v>71.4</c:v>
                </c:pt>
                <c:pt idx="3">
                  <c:v>73</c:v>
                </c:pt>
                <c:pt idx="4">
                  <c:v>70.8</c:v>
                </c:pt>
                <c:pt idx="5">
                  <c:v>72.2</c:v>
                </c:pt>
                <c:pt idx="6">
                  <c:v>72.3</c:v>
                </c:pt>
                <c:pt idx="7">
                  <c:v>72.3</c:v>
                </c:pt>
                <c:pt idx="8">
                  <c:v>69.9</c:v>
                </c:pt>
                <c:pt idx="9">
                  <c:v>69.9</c:v>
                </c:pt>
                <c:pt idx="10">
                  <c:v>72</c:v>
                </c:pt>
                <c:pt idx="11">
                  <c:v>69.9</c:v>
                </c:pt>
                <c:pt idx="12">
                  <c:v>69.3</c:v>
                </c:pt>
                <c:pt idx="13">
                  <c:v>73.1</c:v>
                </c:pt>
                <c:pt idx="14">
                  <c:v>73.2</c:v>
                </c:pt>
                <c:pt idx="15">
                  <c:v>75.5</c:v>
                </c:pt>
                <c:pt idx="16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416.63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92.68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3047.16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4799.42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2026-04-02  |  17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1824671" y="3448286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24671" y="3448286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+700</a:t>
            </a:r>
            <a:endParaRPr lang="en-US" sz="700" dirty="0"/>
          </a:p>
        </p:txBody>
      </p:sp>
      <p:sp>
        <p:nvSpPr>
          <p:cNvPr id="9" name="Shape 5"/>
          <p:cNvSpPr/>
          <p:nvPr/>
        </p:nvSpPr>
        <p:spPr>
          <a:xfrm>
            <a:off x="2434823" y="304040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434823" y="304040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+800</a:t>
            </a:r>
            <a:endParaRPr lang="en-US" sz="700" dirty="0"/>
          </a:p>
        </p:txBody>
      </p:sp>
      <p:sp>
        <p:nvSpPr>
          <p:cNvPr id="11" name="Shape 7"/>
          <p:cNvSpPr/>
          <p:nvPr/>
        </p:nvSpPr>
        <p:spPr>
          <a:xfrm>
            <a:off x="3044975" y="273449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44975" y="273449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+600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3655127" y="3329136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655127" y="3329136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-700</a:t>
            </a:r>
            <a:endParaRPr lang="en-US" sz="700" dirty="0"/>
          </a:p>
        </p:txBody>
      </p:sp>
      <p:sp>
        <p:nvSpPr>
          <p:cNvPr id="15" name="Shape 11"/>
          <p:cNvSpPr/>
          <p:nvPr/>
        </p:nvSpPr>
        <p:spPr>
          <a:xfrm>
            <a:off x="4265279" y="378799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265279" y="378799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-900</a:t>
            </a:r>
            <a:endParaRPr lang="en-US" sz="700" dirty="0"/>
          </a:p>
        </p:txBody>
      </p:sp>
      <p:sp>
        <p:nvSpPr>
          <p:cNvPr id="17" name="Shape 13"/>
          <p:cNvSpPr/>
          <p:nvPr/>
        </p:nvSpPr>
        <p:spPr>
          <a:xfrm>
            <a:off x="4875432" y="414489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75432" y="414489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-700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5485584" y="385616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485584" y="385616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</a:t>
            </a:r>
            <a:endParaRPr lang="en-US" sz="700" dirty="0"/>
          </a:p>
        </p:txBody>
      </p:sp>
      <p:sp>
        <p:nvSpPr>
          <p:cNvPr id="21" name="Shape 17"/>
          <p:cNvSpPr/>
          <p:nvPr/>
        </p:nvSpPr>
        <p:spPr>
          <a:xfrm>
            <a:off x="6095736" y="370320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095736" y="370320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+300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6705888" y="355025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05888" y="355025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+300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7316041" y="460375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316041" y="460375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-1,600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7926193" y="395813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926193" y="395813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+800</a:t>
            </a:r>
            <a:endParaRPr lang="en-US" sz="700" dirty="0"/>
          </a:p>
        </p:txBody>
      </p:sp>
      <p:sp>
        <p:nvSpPr>
          <p:cNvPr id="29" name="Shape 25"/>
          <p:cNvSpPr/>
          <p:nvPr/>
        </p:nvSpPr>
        <p:spPr>
          <a:xfrm>
            <a:off x="8536345" y="370320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536345" y="370320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+500</a:t>
            </a:r>
            <a:endParaRPr lang="en-US" sz="700" dirty="0"/>
          </a:p>
        </p:txBody>
      </p:sp>
      <p:sp>
        <p:nvSpPr>
          <p:cNvPr id="31" name="Shape 27"/>
          <p:cNvSpPr/>
          <p:nvPr/>
        </p:nvSpPr>
        <p:spPr>
          <a:xfrm>
            <a:off x="9146497" y="255605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46497" y="255605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+2,250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9756649" y="281928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756649" y="281928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-50</a:t>
            </a:r>
            <a:endParaRPr lang="en-US" sz="700" dirty="0"/>
          </a:p>
        </p:txBody>
      </p:sp>
      <p:sp>
        <p:nvSpPr>
          <p:cNvPr id="35" name="Shape 31"/>
          <p:cNvSpPr/>
          <p:nvPr/>
        </p:nvSpPr>
        <p:spPr>
          <a:xfrm>
            <a:off x="10366802" y="217366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0366802" y="217366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+800</a:t>
            </a:r>
            <a:endParaRPr lang="en-US" sz="700" dirty="0"/>
          </a:p>
        </p:txBody>
      </p:sp>
      <p:sp>
        <p:nvSpPr>
          <p:cNvPr id="37" name="Shape 33"/>
          <p:cNvSpPr/>
          <p:nvPr/>
        </p:nvSpPr>
        <p:spPr>
          <a:xfrm>
            <a:off x="10976954" y="1408896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976954" y="1408896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+1,500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038224" y="327815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2038224" y="327815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-300</a:t>
            </a:r>
            <a:endParaRPr lang="en-US" sz="700" dirty="0"/>
          </a:p>
        </p:txBody>
      </p:sp>
      <p:sp>
        <p:nvSpPr>
          <p:cNvPr id="41" name="Shape 37"/>
          <p:cNvSpPr/>
          <p:nvPr/>
        </p:nvSpPr>
        <p:spPr>
          <a:xfrm>
            <a:off x="2648376" y="258154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648376" y="258154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+900</a:t>
            </a:r>
            <a:endParaRPr lang="en-US" sz="700" dirty="0"/>
          </a:p>
        </p:txBody>
      </p:sp>
      <p:sp>
        <p:nvSpPr>
          <p:cNvPr id="43" name="Shape 39"/>
          <p:cNvSpPr/>
          <p:nvPr/>
        </p:nvSpPr>
        <p:spPr>
          <a:xfrm>
            <a:off x="3258528" y="307421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3258528" y="307421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-500</a:t>
            </a:r>
            <a:endParaRPr lang="en-US" sz="700" dirty="0"/>
          </a:p>
        </p:txBody>
      </p:sp>
      <p:sp>
        <p:nvSpPr>
          <p:cNvPr id="45" name="Shape 41"/>
          <p:cNvSpPr/>
          <p:nvPr/>
        </p:nvSpPr>
        <p:spPr>
          <a:xfrm>
            <a:off x="3868680" y="253056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868680" y="253056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+600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4478833" y="327815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478833" y="327815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-1,000</a:t>
            </a:r>
            <a:endParaRPr lang="en-US" sz="700" dirty="0"/>
          </a:p>
        </p:txBody>
      </p:sp>
      <p:sp>
        <p:nvSpPr>
          <p:cNvPr id="49" name="Shape 45"/>
          <p:cNvSpPr/>
          <p:nvPr/>
        </p:nvSpPr>
        <p:spPr>
          <a:xfrm>
            <a:off x="5088985" y="3482091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88985" y="3482091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-400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5699137" y="373701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699137" y="373701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-500</a:t>
            </a:r>
            <a:endParaRPr lang="en-US" sz="700" dirty="0"/>
          </a:p>
        </p:txBody>
      </p:sp>
      <p:sp>
        <p:nvSpPr>
          <p:cNvPr id="53" name="Shape 49"/>
          <p:cNvSpPr/>
          <p:nvPr/>
        </p:nvSpPr>
        <p:spPr>
          <a:xfrm>
            <a:off x="6309289" y="4348831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309289" y="4348831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-1,200</a:t>
            </a:r>
            <a:endParaRPr lang="en-US" sz="700" dirty="0"/>
          </a:p>
        </p:txBody>
      </p:sp>
      <p:sp>
        <p:nvSpPr>
          <p:cNvPr id="55" name="Shape 51"/>
          <p:cNvSpPr/>
          <p:nvPr/>
        </p:nvSpPr>
        <p:spPr>
          <a:xfrm>
            <a:off x="6919442" y="375419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919442" y="375419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+700</a:t>
            </a:r>
            <a:endParaRPr lang="en-US" sz="700" dirty="0"/>
          </a:p>
        </p:txBody>
      </p:sp>
      <p:sp>
        <p:nvSpPr>
          <p:cNvPr id="57" name="Shape 53"/>
          <p:cNvSpPr/>
          <p:nvPr/>
        </p:nvSpPr>
        <p:spPr>
          <a:xfrm>
            <a:off x="7529594" y="475670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7529594" y="475670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-1,500</a:t>
            </a:r>
            <a:endParaRPr lang="en-US" sz="700" dirty="0"/>
          </a:p>
        </p:txBody>
      </p:sp>
      <p:sp>
        <p:nvSpPr>
          <p:cNvPr id="59" name="Shape 55"/>
          <p:cNvSpPr/>
          <p:nvPr/>
        </p:nvSpPr>
        <p:spPr>
          <a:xfrm>
            <a:off x="8139746" y="355025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8139746" y="355025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+1,900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8749898" y="383898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8749898" y="383898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</a:t>
            </a:r>
            <a:endParaRPr lang="en-US" sz="700" dirty="0"/>
          </a:p>
        </p:txBody>
      </p:sp>
      <p:sp>
        <p:nvSpPr>
          <p:cNvPr id="63" name="Shape 59"/>
          <p:cNvSpPr/>
          <p:nvPr/>
        </p:nvSpPr>
        <p:spPr>
          <a:xfrm>
            <a:off x="9360051" y="222465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9360051" y="222465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+2,700</a:t>
            </a:r>
            <a:endParaRPr lang="en-US" sz="700" dirty="0"/>
          </a:p>
        </p:txBody>
      </p:sp>
      <p:sp>
        <p:nvSpPr>
          <p:cNvPr id="65" name="Shape 61"/>
          <p:cNvSpPr/>
          <p:nvPr/>
        </p:nvSpPr>
        <p:spPr>
          <a:xfrm>
            <a:off x="9970203" y="327815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9970203" y="327815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-1,600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10580355" y="217366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10580355" y="217366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+1,700</a:t>
            </a:r>
            <a:endParaRPr lang="en-US" sz="700" dirty="0"/>
          </a:p>
        </p:txBody>
      </p:sp>
      <p:sp>
        <p:nvSpPr>
          <p:cNvPr id="69" name="Shape 65"/>
          <p:cNvSpPr/>
          <p:nvPr/>
        </p:nvSpPr>
        <p:spPr>
          <a:xfrm>
            <a:off x="11190507" y="115397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11190507" y="115397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+2,000</a:t>
            </a:r>
            <a:endParaRPr lang="en-US" sz="700" dirty="0"/>
          </a:p>
        </p:txBody>
      </p:sp>
      <p:sp>
        <p:nvSpPr>
          <p:cNvPr id="71" name="Shape 67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 Raipur 32,368  |  NCR 32,788 INR/MT</a:t>
            </a:r>
            <a:endParaRPr lang="en-US" sz="1100" dirty="0"/>
          </a:p>
        </p:txBody>
      </p:sp>
      <p:sp>
        <p:nvSpPr>
          <p:cNvPr id="73" name="Text 69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4" name="Text 70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 / INR/kg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+1,600 INR/MT  |  Pig Iron: +1,500 INR/MT  |  Iron Ore DRI: +1,750 INR/MT  |  Silico Manganese: +5.5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1824671" y="214354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24671" y="214354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</a:t>
            </a:r>
            <a:endParaRPr lang="en-US" sz="700" dirty="0"/>
          </a:p>
        </p:txBody>
      </p:sp>
      <p:sp>
        <p:nvSpPr>
          <p:cNvPr id="9" name="Shape 5"/>
          <p:cNvSpPr/>
          <p:nvPr/>
        </p:nvSpPr>
        <p:spPr>
          <a:xfrm>
            <a:off x="2434823" y="278764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434823" y="278764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-409</a:t>
            </a:r>
            <a:endParaRPr lang="en-US" sz="700" dirty="0"/>
          </a:p>
        </p:txBody>
      </p:sp>
      <p:sp>
        <p:nvSpPr>
          <p:cNvPr id="11" name="Shape 7"/>
          <p:cNvSpPr/>
          <p:nvPr/>
        </p:nvSpPr>
        <p:spPr>
          <a:xfrm>
            <a:off x="3044975" y="233181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44975" y="233181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+220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3655127" y="115397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655127" y="115397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+1,186</a:t>
            </a:r>
            <a:endParaRPr lang="en-US" sz="700" dirty="0"/>
          </a:p>
        </p:txBody>
      </p:sp>
      <p:sp>
        <p:nvSpPr>
          <p:cNvPr id="15" name="Shape 11"/>
          <p:cNvSpPr/>
          <p:nvPr/>
        </p:nvSpPr>
        <p:spPr>
          <a:xfrm>
            <a:off x="4265279" y="154468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265279" y="154468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-154</a:t>
            </a:r>
            <a:endParaRPr lang="en-US" sz="700" dirty="0"/>
          </a:p>
        </p:txBody>
      </p:sp>
      <p:sp>
        <p:nvSpPr>
          <p:cNvPr id="17" name="Shape 13"/>
          <p:cNvSpPr/>
          <p:nvPr/>
        </p:nvSpPr>
        <p:spPr>
          <a:xfrm>
            <a:off x="4875432" y="209671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75432" y="209671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-556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5485584" y="415730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485584" y="415730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-2,075</a:t>
            </a:r>
            <a:endParaRPr lang="en-US" sz="700" dirty="0"/>
          </a:p>
        </p:txBody>
      </p:sp>
      <p:sp>
        <p:nvSpPr>
          <p:cNvPr id="21" name="Shape 17"/>
          <p:cNvSpPr/>
          <p:nvPr/>
        </p:nvSpPr>
        <p:spPr>
          <a:xfrm>
            <a:off x="6095736" y="3237181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095736" y="3237181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+687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6705888" y="475670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05888" y="475670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-1,291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7316041" y="417867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316041" y="417867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+343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7926193" y="393631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926193" y="393631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+244</a:t>
            </a:r>
            <a:endParaRPr lang="en-US" sz="700" dirty="0"/>
          </a:p>
        </p:txBody>
      </p:sp>
      <p:sp>
        <p:nvSpPr>
          <p:cNvPr id="29" name="Shape 25"/>
          <p:cNvSpPr/>
          <p:nvPr/>
        </p:nvSpPr>
        <p:spPr>
          <a:xfrm>
            <a:off x="8536345" y="214108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536345" y="214108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+1,808</a:t>
            </a:r>
            <a:endParaRPr lang="en-US" sz="700" dirty="0"/>
          </a:p>
        </p:txBody>
      </p:sp>
      <p:sp>
        <p:nvSpPr>
          <p:cNvPr id="31" name="Shape 27"/>
          <p:cNvSpPr/>
          <p:nvPr/>
        </p:nvSpPr>
        <p:spPr>
          <a:xfrm>
            <a:off x="9146497" y="256287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46497" y="256287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-185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9756649" y="359941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756649" y="359941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-1,044</a:t>
            </a:r>
            <a:endParaRPr lang="en-US" sz="700" dirty="0"/>
          </a:p>
        </p:txBody>
      </p:sp>
      <p:sp>
        <p:nvSpPr>
          <p:cNvPr id="35" name="Shape 31"/>
          <p:cNvSpPr/>
          <p:nvPr/>
        </p:nvSpPr>
        <p:spPr>
          <a:xfrm>
            <a:off x="10366802" y="224900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0366802" y="224900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+1,121</a:t>
            </a:r>
            <a:endParaRPr lang="en-US" sz="700" dirty="0"/>
          </a:p>
        </p:txBody>
      </p:sp>
      <p:sp>
        <p:nvSpPr>
          <p:cNvPr id="37" name="Shape 33"/>
          <p:cNvSpPr/>
          <p:nvPr/>
        </p:nvSpPr>
        <p:spPr>
          <a:xfrm>
            <a:off x="10976954" y="257915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976954" y="257915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-93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038224" y="240854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2038224" y="240854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+263</a:t>
            </a:r>
            <a:endParaRPr lang="en-US" sz="700" dirty="0"/>
          </a:p>
        </p:txBody>
      </p:sp>
      <p:sp>
        <p:nvSpPr>
          <p:cNvPr id="41" name="Shape 37"/>
          <p:cNvSpPr/>
          <p:nvPr/>
        </p:nvSpPr>
        <p:spPr>
          <a:xfrm>
            <a:off x="2648376" y="282310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648376" y="282310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-178</a:t>
            </a:r>
            <a:endParaRPr lang="en-US" sz="700" dirty="0"/>
          </a:p>
        </p:txBody>
      </p:sp>
      <p:sp>
        <p:nvSpPr>
          <p:cNvPr id="43" name="Shape 39"/>
          <p:cNvSpPr/>
          <p:nvPr/>
        </p:nvSpPr>
        <p:spPr>
          <a:xfrm>
            <a:off x="3258528" y="334285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3258528" y="334285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-523</a:t>
            </a:r>
            <a:endParaRPr lang="en-US" sz="700" dirty="0"/>
          </a:p>
        </p:txBody>
      </p:sp>
      <p:sp>
        <p:nvSpPr>
          <p:cNvPr id="45" name="Shape 41"/>
          <p:cNvSpPr/>
          <p:nvPr/>
        </p:nvSpPr>
        <p:spPr>
          <a:xfrm>
            <a:off x="3868680" y="2587086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868680" y="2587086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+522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4478833" y="243888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478833" y="243888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+149</a:t>
            </a:r>
            <a:endParaRPr lang="en-US" sz="700" dirty="0"/>
          </a:p>
        </p:txBody>
      </p:sp>
      <p:sp>
        <p:nvSpPr>
          <p:cNvPr id="49" name="Shape 45"/>
          <p:cNvSpPr/>
          <p:nvPr/>
        </p:nvSpPr>
        <p:spPr>
          <a:xfrm>
            <a:off x="5088985" y="221399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88985" y="221399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+227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5699137" y="390612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699137" y="390612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-1,465</a:t>
            </a:r>
            <a:endParaRPr lang="en-US" sz="700" dirty="0"/>
          </a:p>
        </p:txBody>
      </p:sp>
      <p:sp>
        <p:nvSpPr>
          <p:cNvPr id="53" name="Shape 49"/>
          <p:cNvSpPr/>
          <p:nvPr/>
        </p:nvSpPr>
        <p:spPr>
          <a:xfrm>
            <a:off x="6309289" y="336088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309289" y="336088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+310</a:t>
            </a:r>
            <a:endParaRPr lang="en-US" sz="700" dirty="0"/>
          </a:p>
        </p:txBody>
      </p:sp>
      <p:sp>
        <p:nvSpPr>
          <p:cNvPr id="55" name="Shape 51"/>
          <p:cNvSpPr/>
          <p:nvPr/>
        </p:nvSpPr>
        <p:spPr>
          <a:xfrm>
            <a:off x="6919442" y="406197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919442" y="406197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-467</a:t>
            </a:r>
            <a:endParaRPr lang="en-US" sz="700" dirty="0"/>
          </a:p>
        </p:txBody>
      </p:sp>
      <p:sp>
        <p:nvSpPr>
          <p:cNvPr id="57" name="Shape 53"/>
          <p:cNvSpPr/>
          <p:nvPr/>
        </p:nvSpPr>
        <p:spPr>
          <a:xfrm>
            <a:off x="7529594" y="361829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7529594" y="361829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+207</a:t>
            </a:r>
            <a:endParaRPr lang="en-US" sz="700" dirty="0"/>
          </a:p>
        </p:txBody>
      </p:sp>
      <p:sp>
        <p:nvSpPr>
          <p:cNvPr id="59" name="Shape 55"/>
          <p:cNvSpPr/>
          <p:nvPr/>
        </p:nvSpPr>
        <p:spPr>
          <a:xfrm>
            <a:off x="8139746" y="336386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8139746" y="336386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8749898" y="2825011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8749898" y="2825011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+543</a:t>
            </a:r>
            <a:endParaRPr lang="en-US" sz="700" dirty="0"/>
          </a:p>
        </p:txBody>
      </p:sp>
      <p:sp>
        <p:nvSpPr>
          <p:cNvPr id="63" name="Shape 59"/>
          <p:cNvSpPr/>
          <p:nvPr/>
        </p:nvSpPr>
        <p:spPr>
          <a:xfrm>
            <a:off x="9360051" y="201860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9360051" y="201860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+812</a:t>
            </a:r>
            <a:endParaRPr lang="en-US" sz="700" dirty="0"/>
          </a:p>
        </p:txBody>
      </p:sp>
      <p:sp>
        <p:nvSpPr>
          <p:cNvPr id="65" name="Shape 61"/>
          <p:cNvSpPr/>
          <p:nvPr/>
        </p:nvSpPr>
        <p:spPr>
          <a:xfrm>
            <a:off x="9970203" y="309772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9970203" y="309772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-847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10580355" y="258383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10580355" y="258383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+278</a:t>
            </a:r>
            <a:endParaRPr lang="en-US" sz="700" dirty="0"/>
          </a:p>
        </p:txBody>
      </p:sp>
      <p:sp>
        <p:nvSpPr>
          <p:cNvPr id="69" name="Shape 65"/>
          <p:cNvSpPr/>
          <p:nvPr/>
        </p:nvSpPr>
        <p:spPr>
          <a:xfrm>
            <a:off x="11190507" y="290078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11190507" y="290078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-80</a:t>
            </a:r>
            <a:endParaRPr lang="en-US" sz="700" dirty="0"/>
          </a:p>
        </p:txBody>
      </p:sp>
      <p:sp>
        <p:nvSpPr>
          <p:cNvPr id="71" name="Shape 67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 Raipur 62  |  NCR -116 INR/MT</a:t>
            </a:r>
            <a:endParaRPr lang="en-US" sz="1100" dirty="0"/>
          </a:p>
        </p:txBody>
      </p:sp>
      <p:sp>
        <p:nvSpPr>
          <p:cNvPr id="73" name="Text 69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4" name="Text 70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1824671" y="359857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824671" y="359857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-153</a:t>
            </a:r>
            <a:endParaRPr lang="en-US" sz="700" dirty="0"/>
          </a:p>
        </p:txBody>
      </p:sp>
      <p:sp>
        <p:nvSpPr>
          <p:cNvPr id="9" name="Shape 5"/>
          <p:cNvSpPr/>
          <p:nvPr/>
        </p:nvSpPr>
        <p:spPr>
          <a:xfrm>
            <a:off x="2434823" y="373994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434823" y="373994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-267</a:t>
            </a:r>
            <a:endParaRPr lang="en-US" sz="700" dirty="0"/>
          </a:p>
        </p:txBody>
      </p:sp>
      <p:sp>
        <p:nvSpPr>
          <p:cNvPr id="11" name="Shape 7"/>
          <p:cNvSpPr/>
          <p:nvPr/>
        </p:nvSpPr>
        <p:spPr>
          <a:xfrm>
            <a:off x="3044975" y="2990956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44975" y="2990956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+965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3655127" y="198955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655127" y="198955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+1,891</a:t>
            </a:r>
            <a:endParaRPr lang="en-US" sz="700" dirty="0"/>
          </a:p>
        </p:txBody>
      </p:sp>
      <p:sp>
        <p:nvSpPr>
          <p:cNvPr id="15" name="Shape 11"/>
          <p:cNvSpPr/>
          <p:nvPr/>
        </p:nvSpPr>
        <p:spPr>
          <a:xfrm>
            <a:off x="4265279" y="275352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265279" y="275352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-994</a:t>
            </a:r>
            <a:endParaRPr lang="en-US" sz="700" dirty="0"/>
          </a:p>
        </p:txBody>
      </p:sp>
      <p:sp>
        <p:nvSpPr>
          <p:cNvPr id="17" name="Shape 13"/>
          <p:cNvSpPr/>
          <p:nvPr/>
        </p:nvSpPr>
        <p:spPr>
          <a:xfrm>
            <a:off x="4875432" y="309479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75432" y="309479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-644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5485584" y="454876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485584" y="454876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-2,746</a:t>
            </a:r>
            <a:endParaRPr lang="en-US" sz="700" dirty="0"/>
          </a:p>
        </p:txBody>
      </p:sp>
      <p:sp>
        <p:nvSpPr>
          <p:cNvPr id="21" name="Shape 17"/>
          <p:cNvSpPr/>
          <p:nvPr/>
        </p:nvSpPr>
        <p:spPr>
          <a:xfrm>
            <a:off x="6095736" y="383442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095736" y="383442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+900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6705888" y="468080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05888" y="468080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-1,149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7316041" y="475670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316041" y="475670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-143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7926193" y="428783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926193" y="428783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+436</a:t>
            </a:r>
            <a:endParaRPr lang="en-US" sz="700" dirty="0"/>
          </a:p>
        </p:txBody>
      </p:sp>
      <p:sp>
        <p:nvSpPr>
          <p:cNvPr id="29" name="Shape 25"/>
          <p:cNvSpPr/>
          <p:nvPr/>
        </p:nvSpPr>
        <p:spPr>
          <a:xfrm>
            <a:off x="8536345" y="338068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536345" y="338068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+1,713</a:t>
            </a:r>
            <a:endParaRPr lang="en-US" sz="700" dirty="0"/>
          </a:p>
        </p:txBody>
      </p:sp>
      <p:sp>
        <p:nvSpPr>
          <p:cNvPr id="31" name="Shape 27"/>
          <p:cNvSpPr/>
          <p:nvPr/>
        </p:nvSpPr>
        <p:spPr>
          <a:xfrm>
            <a:off x="9146497" y="309708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146497" y="309708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+536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9756649" y="364936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756649" y="364936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-594</a:t>
            </a:r>
            <a:endParaRPr lang="en-US" sz="700" dirty="0"/>
          </a:p>
        </p:txBody>
      </p:sp>
      <p:sp>
        <p:nvSpPr>
          <p:cNvPr id="35" name="Shape 31"/>
          <p:cNvSpPr/>
          <p:nvPr/>
        </p:nvSpPr>
        <p:spPr>
          <a:xfrm>
            <a:off x="10366802" y="2394847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0366802" y="2394847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+1,920</a:t>
            </a:r>
            <a:endParaRPr lang="en-US" sz="700" dirty="0"/>
          </a:p>
        </p:txBody>
      </p:sp>
      <p:sp>
        <p:nvSpPr>
          <p:cNvPr id="37" name="Shape 33"/>
          <p:cNvSpPr/>
          <p:nvPr/>
        </p:nvSpPr>
        <p:spPr>
          <a:xfrm>
            <a:off x="10976954" y="2081890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2133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976954" y="2081890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+591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038224" y="3381794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2038224" y="3381794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-135</a:t>
            </a:r>
            <a:endParaRPr lang="en-US" sz="700" dirty="0"/>
          </a:p>
        </p:txBody>
      </p:sp>
      <p:sp>
        <p:nvSpPr>
          <p:cNvPr id="41" name="Shape 37"/>
          <p:cNvSpPr/>
          <p:nvPr/>
        </p:nvSpPr>
        <p:spPr>
          <a:xfrm>
            <a:off x="2648376" y="308363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648376" y="308363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+114</a:t>
            </a:r>
            <a:endParaRPr lang="en-US" sz="700" dirty="0"/>
          </a:p>
        </p:txBody>
      </p:sp>
      <p:sp>
        <p:nvSpPr>
          <p:cNvPr id="43" name="Shape 39"/>
          <p:cNvSpPr/>
          <p:nvPr/>
        </p:nvSpPr>
        <p:spPr>
          <a:xfrm>
            <a:off x="3258528" y="2567471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3258528" y="2567471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+975</a:t>
            </a:r>
            <a:endParaRPr lang="en-US" sz="700" dirty="0"/>
          </a:p>
        </p:txBody>
      </p:sp>
      <p:sp>
        <p:nvSpPr>
          <p:cNvPr id="45" name="Shape 41"/>
          <p:cNvSpPr/>
          <p:nvPr/>
        </p:nvSpPr>
        <p:spPr>
          <a:xfrm>
            <a:off x="3868680" y="210551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868680" y="210551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+872</a:t>
            </a:r>
            <a:endParaRPr lang="en-US" sz="700" dirty="0"/>
          </a:p>
        </p:txBody>
      </p:sp>
      <p:sp>
        <p:nvSpPr>
          <p:cNvPr id="47" name="Shape 43"/>
          <p:cNvSpPr/>
          <p:nvPr/>
        </p:nvSpPr>
        <p:spPr>
          <a:xfrm>
            <a:off x="4478833" y="276221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478833" y="276221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-791</a:t>
            </a:r>
            <a:endParaRPr lang="en-US" sz="700" dirty="0"/>
          </a:p>
        </p:txBody>
      </p:sp>
      <p:sp>
        <p:nvSpPr>
          <p:cNvPr id="49" name="Shape 45"/>
          <p:cNvSpPr/>
          <p:nvPr/>
        </p:nvSpPr>
        <p:spPr>
          <a:xfrm>
            <a:off x="5088985" y="285016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88985" y="285016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-166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5699137" y="341858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699137" y="341858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-1,073</a:t>
            </a:r>
            <a:endParaRPr lang="en-US" sz="700" dirty="0"/>
          </a:p>
        </p:txBody>
      </p:sp>
      <p:sp>
        <p:nvSpPr>
          <p:cNvPr id="53" name="Shape 49"/>
          <p:cNvSpPr/>
          <p:nvPr/>
        </p:nvSpPr>
        <p:spPr>
          <a:xfrm>
            <a:off x="6309289" y="383068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309289" y="383068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-778</a:t>
            </a:r>
            <a:endParaRPr lang="en-US" sz="700" dirty="0"/>
          </a:p>
        </p:txBody>
      </p:sp>
      <p:sp>
        <p:nvSpPr>
          <p:cNvPr id="55" name="Shape 51"/>
          <p:cNvSpPr/>
          <p:nvPr/>
        </p:nvSpPr>
        <p:spPr>
          <a:xfrm>
            <a:off x="6919442" y="408148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919442" y="408148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-474</a:t>
            </a:r>
            <a:endParaRPr lang="en-US" sz="700" dirty="0"/>
          </a:p>
        </p:txBody>
      </p:sp>
      <p:sp>
        <p:nvSpPr>
          <p:cNvPr id="57" name="Shape 53"/>
          <p:cNvSpPr/>
          <p:nvPr/>
        </p:nvSpPr>
        <p:spPr>
          <a:xfrm>
            <a:off x="7529594" y="4388488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7529594" y="4388488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-580</a:t>
            </a:r>
            <a:endParaRPr lang="en-US" sz="700" dirty="0"/>
          </a:p>
        </p:txBody>
      </p:sp>
      <p:sp>
        <p:nvSpPr>
          <p:cNvPr id="59" name="Shape 55"/>
          <p:cNvSpPr/>
          <p:nvPr/>
        </p:nvSpPr>
        <p:spPr>
          <a:xfrm>
            <a:off x="8139746" y="3994891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8139746" y="3994891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+294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8749898" y="3361602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8749898" y="3361602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+1,196</a:t>
            </a:r>
            <a:endParaRPr lang="en-US" sz="700" dirty="0"/>
          </a:p>
        </p:txBody>
      </p:sp>
      <p:sp>
        <p:nvSpPr>
          <p:cNvPr id="63" name="Shape 59"/>
          <p:cNvSpPr/>
          <p:nvPr/>
        </p:nvSpPr>
        <p:spPr>
          <a:xfrm>
            <a:off x="9360051" y="252262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9360051" y="252262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+1,584</a:t>
            </a:r>
            <a:endParaRPr lang="en-US" sz="700" dirty="0"/>
          </a:p>
        </p:txBody>
      </p:sp>
      <p:sp>
        <p:nvSpPr>
          <p:cNvPr id="65" name="Shape 61"/>
          <p:cNvSpPr/>
          <p:nvPr/>
        </p:nvSpPr>
        <p:spPr>
          <a:xfrm>
            <a:off x="9970203" y="2226395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9970203" y="2226395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+559</a:t>
            </a:r>
            <a:endParaRPr lang="en-US" sz="700" dirty="0"/>
          </a:p>
        </p:txBody>
      </p:sp>
      <p:sp>
        <p:nvSpPr>
          <p:cNvPr id="67" name="Shape 63"/>
          <p:cNvSpPr/>
          <p:nvPr/>
        </p:nvSpPr>
        <p:spPr>
          <a:xfrm>
            <a:off x="10580355" y="1447129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10580355" y="1447129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+1,472</a:t>
            </a:r>
            <a:endParaRPr lang="en-US" sz="700" dirty="0"/>
          </a:p>
        </p:txBody>
      </p:sp>
      <p:sp>
        <p:nvSpPr>
          <p:cNvPr id="69" name="Shape 65"/>
          <p:cNvSpPr/>
          <p:nvPr/>
        </p:nvSpPr>
        <p:spPr>
          <a:xfrm>
            <a:off x="11190507" y="1153973"/>
            <a:ext cx="234909" cy="201168"/>
          </a:xfrm>
          <a:prstGeom prst="roundRect">
            <a:avLst>
              <a:gd name="adj" fmla="val 13636"/>
            </a:avLst>
          </a:prstGeom>
          <a:solidFill>
            <a:srgbClr val="7F7F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11190507" y="1153973"/>
            <a:ext cx="2349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+554</a:t>
            </a:r>
            <a:endParaRPr lang="en-US" sz="700" dirty="0"/>
          </a:p>
        </p:txBody>
      </p:sp>
      <p:sp>
        <p:nvSpPr>
          <p:cNvPr id="71" name="Shape 67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 Raipur 729  |  NCR 1,582 INR/MT</a:t>
            </a:r>
            <a:endParaRPr lang="en-US" sz="1100" dirty="0"/>
          </a:p>
        </p:txBody>
      </p:sp>
      <p:sp>
        <p:nvSpPr>
          <p:cNvPr id="73" name="Text 69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0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2026-04-02T09:09:02Z</dcterms:created>
  <dcterms:modified xsi:type="dcterms:W3CDTF">2026-04-02T09:09:02Z</dcterms:modified>
</cp:coreProperties>
</file>