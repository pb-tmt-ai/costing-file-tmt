
<file path=[Content_Types].xml><?xml version="1.0" encoding="utf-8"?>
<ns0:Types xmlns:ns0="http://schemas.openxmlformats.org/package/2006/content-types">
  <ns0:Default Extension="xml" ContentType="application/xml"/>
  <ns0:Default Extension="rels" ContentType="application/vnd.openxmlformats-package.relationships+xml"/>
  <ns0:Default Extension="jpeg" ContentType="image/jpeg"/>
  <ns0:Default Extension="jpg" ContentType="image/jpg"/>
  <ns0:Default Extension="svg" ContentType="image/svg+xml"/>
  <ns0:Default Extension="png" ContentType="image/png"/>
  <ns0:Default Extension="gif" ContentType="image/gif"/>
  <ns0:Default Extension="m4v" ContentType="video/mp4"/>
  <ns0:Default Extension="mp4" ContentType="video/mp4"/>
  <ns0:Default Extension="vml" ContentType="application/vnd.openxmlformats-officedocument.vmlDrawing"/>
  <ns0:Default Extension="xlsx" ContentType="application/vnd.openxmlformats-officedocument.spreadsheetml.sheet"/>
  <ns0:Override PartName="/ppt/presentation.xml" ContentType="application/vnd.openxmlformats-officedocument.presentationml.presentation.main+xml"/>
  <ns0:Override PartName="/ppt/notesMasters/notesMaster1.xml" ContentType="application/vnd.openxmlformats-officedocument.presentationml.notesMaster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charts/chart1.xml" ContentType="application/vnd.openxmlformats-officedocument.drawingml.chart+xml"/>
  <ns0:Override PartName="/ppt/slides/slide3.xml" ContentType="application/vnd.openxmlformats-officedocument.presentationml.slide+xml"/>
  <ns0:Override PartName="/ppt/charts/chart2.xml" ContentType="application/vnd.openxmlformats-officedocument.drawingml.chart+xml"/>
  <ns0:Override PartName="/ppt/slides/slide4.xml" ContentType="application/vnd.openxmlformats-officedocument.presentationml.slide+xml"/>
  <ns0:Override PartName="/ppt/charts/chart3.xml" ContentType="application/vnd.openxmlformats-officedocument.drawingml.chart+xml"/>
  <ns0:Override PartName="/ppt/slides/slide5.xml" ContentType="application/vnd.openxmlformats-officedocument.presentationml.slide+xml"/>
  <ns0:Override PartName="/ppt/charts/chart4.xml" ContentType="application/vnd.openxmlformats-officedocument.drawingml.char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</ns0: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R:-700 | N:-900</c:v>
                  </c:pt>
                  <c:pt idx="18">
                    <c:v>Jun'26
R:-600 | N:+0.00</c:v>
                  </c:pt>
                  <c:pt idx="19">
                    <c:v>Jul'26
R:-100 | N:-500</c:v>
                  </c:pt>
                  <c:pt idx="20">
                    <c:v>Aug'26
R:+2,300 | N:+4,500</c:v>
                  </c:pt>
                  <c:pt idx="21">
                    <c:v>Sep'26
R:+1,900 | N:+300</c:v>
                  </c:pt>
                  <c:pt idx="22">
                    <c:v>Oct'26
R:-1,900 | N:-2,600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31300</c:v>
                </c:pt>
                <c:pt idx="1">
                  <c:v>32000</c:v>
                </c:pt>
                <c:pt idx="2">
                  <c:v>32800</c:v>
                </c:pt>
                <c:pt idx="3">
                  <c:v>33400</c:v>
                </c:pt>
                <c:pt idx="4">
                  <c:v>32700</c:v>
                </c:pt>
                <c:pt idx="5">
                  <c:v>31800</c:v>
                </c:pt>
                <c:pt idx="6">
                  <c:v>31100</c:v>
                </c:pt>
                <c:pt idx="7">
                  <c:v>31200</c:v>
                </c:pt>
                <c:pt idx="8">
                  <c:v>31500</c:v>
                </c:pt>
                <c:pt idx="9">
                  <c:v>31800</c:v>
                </c:pt>
                <c:pt idx="10">
                  <c:v>30200</c:v>
                </c:pt>
                <c:pt idx="11">
                  <c:v>31000</c:v>
                </c:pt>
                <c:pt idx="12">
                  <c:v>31500</c:v>
                </c:pt>
                <c:pt idx="13">
                  <c:v>33750</c:v>
                </c:pt>
                <c:pt idx="14">
                  <c:v>33700</c:v>
                </c:pt>
                <c:pt idx="15">
                  <c:v>34500</c:v>
                </c:pt>
                <c:pt idx="16">
                  <c:v>35600</c:v>
                </c:pt>
                <c:pt idx="17">
                  <c:v>34900</c:v>
                </c:pt>
                <c:pt idx="18">
                  <c:v>34300</c:v>
                </c:pt>
                <c:pt idx="19">
                  <c:v>34200</c:v>
                </c:pt>
                <c:pt idx="20">
                  <c:v>36500</c:v>
                </c:pt>
                <c:pt idx="21">
                  <c:v>38400</c:v>
                </c:pt>
                <c:pt idx="22">
                  <c:v>36500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R:-700 | N:-900</c:v>
                  </c:pt>
                  <c:pt idx="18">
                    <c:v>Jun'26
R:-600 | N:+0.00</c:v>
                  </c:pt>
                  <c:pt idx="19">
                    <c:v>Jul'26
R:-100 | N:-500</c:v>
                  </c:pt>
                  <c:pt idx="20">
                    <c:v>Aug'26
R:+2,300 | N:+4,500</c:v>
                  </c:pt>
                  <c:pt idx="21">
                    <c:v>Sep'26
R:+1,900 | N:+300</c:v>
                  </c:pt>
                  <c:pt idx="22">
                    <c:v>Oct'26
R:-1,900 | N:-2,600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33100</c:v>
                </c:pt>
                <c:pt idx="1">
                  <c:v>32800</c:v>
                </c:pt>
                <c:pt idx="2">
                  <c:v>33700</c:v>
                </c:pt>
                <c:pt idx="3">
                  <c:v>33200</c:v>
                </c:pt>
                <c:pt idx="4">
                  <c:v>33800</c:v>
                </c:pt>
                <c:pt idx="5">
                  <c:v>32800</c:v>
                </c:pt>
                <c:pt idx="6">
                  <c:v>32400</c:v>
                </c:pt>
                <c:pt idx="7">
                  <c:v>31900</c:v>
                </c:pt>
                <c:pt idx="8">
                  <c:v>30700</c:v>
                </c:pt>
                <c:pt idx="9">
                  <c:v>31400</c:v>
                </c:pt>
                <c:pt idx="10">
                  <c:v>29900</c:v>
                </c:pt>
                <c:pt idx="11">
                  <c:v>31800</c:v>
                </c:pt>
                <c:pt idx="12">
                  <c:v>31700</c:v>
                </c:pt>
                <c:pt idx="13">
                  <c:v>34400</c:v>
                </c:pt>
                <c:pt idx="14">
                  <c:v>32800</c:v>
                </c:pt>
                <c:pt idx="15">
                  <c:v>34500</c:v>
                </c:pt>
                <c:pt idx="16">
                  <c:v>35800</c:v>
                </c:pt>
                <c:pt idx="17">
                  <c:v>34900</c:v>
                </c:pt>
                <c:pt idx="18">
                  <c:v>34900</c:v>
                </c:pt>
                <c:pt idx="19">
                  <c:v>34400</c:v>
                </c:pt>
                <c:pt idx="20">
                  <c:v>38900</c:v>
                </c:pt>
                <c:pt idx="21">
                  <c:v>39200</c:v>
                </c:pt>
                <c:pt idx="22">
                  <c:v>36600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Pallet DRI</c:v>
                </c:pt>
              </c:strCache>
            </c:strRef>
          </c:tx>
          <c:spPr>
            <a:solidFill>
              <a:srgbClr val="1565C0"/>
            </a:solidFill>
            <a:ln w="25400" cap="flat">
              <a:solidFill>
                <a:srgbClr val="1565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  <c:pt idx="22">
                    <c:v>Oct'26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24200</c:v>
                </c:pt>
                <c:pt idx="1">
                  <c:v>24100</c:v>
                </c:pt>
                <c:pt idx="2">
                  <c:v>24900</c:v>
                </c:pt>
                <c:pt idx="3">
                  <c:v>25050</c:v>
                </c:pt>
                <c:pt idx="4">
                  <c:v>24700</c:v>
                </c:pt>
                <c:pt idx="5">
                  <c:v>23700</c:v>
                </c:pt>
                <c:pt idx="6">
                  <c:v>22350</c:v>
                </c:pt>
                <c:pt idx="7">
                  <c:v>24800</c:v>
                </c:pt>
                <c:pt idx="8">
                  <c:v>23150</c:v>
                </c:pt>
                <c:pt idx="9">
                  <c:v>24300</c:v>
                </c:pt>
                <c:pt idx="10">
                  <c:v>22800</c:v>
                </c:pt>
                <c:pt idx="11">
                  <c:v>23750</c:v>
                </c:pt>
                <c:pt idx="12">
                  <c:v>22900</c:v>
                </c:pt>
                <c:pt idx="13">
                  <c:v>25750</c:v>
                </c:pt>
                <c:pt idx="14">
                  <c:v>25800</c:v>
                </c:pt>
                <c:pt idx="15">
                  <c:v>25800</c:v>
                </c:pt>
                <c:pt idx="16">
                  <c:v>25550</c:v>
                </c:pt>
                <c:pt idx="17">
                  <c:v>25250</c:v>
                </c:pt>
                <c:pt idx="18">
                  <c:v>24150</c:v>
                </c:pt>
                <c:pt idx="19">
                  <c:v>25200</c:v>
                </c:pt>
                <c:pt idx="20">
                  <c:v>29700</c:v>
                </c:pt>
                <c:pt idx="21">
                  <c:v>29300</c:v>
                </c:pt>
                <c:pt idx="22">
                  <c:v>27500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Pig Iron</c:v>
                </c:pt>
              </c:strCache>
            </c:strRef>
          </c:tx>
          <c:spPr>
            <a:solidFill>
              <a:srgbClr val="D32F2F"/>
            </a:solidFill>
            <a:ln w="25400" cap="flat">
              <a:solidFill>
                <a:srgbClr val="D32F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32F2F"/>
              </a:solidFill>
              <a:ln w="9525" cap="flat">
                <a:solidFill>
                  <a:srgbClr val="D32F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  <c:pt idx="22">
                    <c:v>Oct'26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32550</c:v>
                </c:pt>
                <c:pt idx="1">
                  <c:v>32400</c:v>
                </c:pt>
                <c:pt idx="2">
                  <c:v>33200</c:v>
                </c:pt>
                <c:pt idx="3">
                  <c:v>36250</c:v>
                </c:pt>
                <c:pt idx="4">
                  <c:v>34800</c:v>
                </c:pt>
                <c:pt idx="5">
                  <c:v>33100</c:v>
                </c:pt>
                <c:pt idx="6">
                  <c:v>32550</c:v>
                </c:pt>
                <c:pt idx="7">
                  <c:v>33700</c:v>
                </c:pt>
                <c:pt idx="8">
                  <c:v>33250</c:v>
                </c:pt>
                <c:pt idx="9">
                  <c:v>32850</c:v>
                </c:pt>
                <c:pt idx="10">
                  <c:v>31800</c:v>
                </c:pt>
                <c:pt idx="11">
                  <c:v>32400</c:v>
                </c:pt>
                <c:pt idx="12">
                  <c:v>33000</c:v>
                </c:pt>
                <c:pt idx="13">
                  <c:v>38150</c:v>
                </c:pt>
                <c:pt idx="14">
                  <c:v>37800</c:v>
                </c:pt>
                <c:pt idx="15">
                  <c:v>37050</c:v>
                </c:pt>
                <c:pt idx="16">
                  <c:v>39700</c:v>
                </c:pt>
                <c:pt idx="17">
                  <c:v>38350</c:v>
                </c:pt>
                <c:pt idx="18">
                  <c:v>37150</c:v>
                </c:pt>
                <c:pt idx="19">
                  <c:v>38800</c:v>
                </c:pt>
                <c:pt idx="20">
                  <c:v>40000</c:v>
                </c:pt>
                <c:pt idx="21">
                  <c:v>42700</c:v>
                </c:pt>
                <c:pt idx="22">
                  <c:v>42500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Iron Ore DRI</c:v>
                </c:pt>
              </c:strCache>
            </c:strRef>
          </c:tx>
          <c:spPr>
            <a:solidFill>
              <a:srgbClr val="616161"/>
            </a:solidFill>
            <a:ln w="25400" cap="flat">
              <a:solidFill>
                <a:srgbClr val="6161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16161"/>
              </a:solidFill>
              <a:ln w="9525" cap="flat">
                <a:solidFill>
                  <a:srgbClr val="6161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  <c:pt idx="22">
                    <c:v>Oct'26</c:v>
                  </c:pt>
                </c:lvl>
              </c:multiLvlStrCache>
            </c:multiLvl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28800</c:v>
                </c:pt>
                <c:pt idx="1">
                  <c:v>29000</c:v>
                </c:pt>
                <c:pt idx="2">
                  <c:v>29600</c:v>
                </c:pt>
                <c:pt idx="3">
                  <c:v>29000</c:v>
                </c:pt>
                <c:pt idx="4">
                  <c:v>29000</c:v>
                </c:pt>
                <c:pt idx="5">
                  <c:v>27700</c:v>
                </c:pt>
                <c:pt idx="6">
                  <c:v>26400</c:v>
                </c:pt>
                <c:pt idx="7">
                  <c:v>28800</c:v>
                </c:pt>
                <c:pt idx="8">
                  <c:v>27750</c:v>
                </c:pt>
                <c:pt idx="9">
                  <c:v>28450</c:v>
                </c:pt>
                <c:pt idx="10">
                  <c:v>26800</c:v>
                </c:pt>
                <c:pt idx="11">
                  <c:v>26950</c:v>
                </c:pt>
                <c:pt idx="12">
                  <c:v>26900</c:v>
                </c:pt>
                <c:pt idx="13">
                  <c:v>29150</c:v>
                </c:pt>
                <c:pt idx="14">
                  <c:v>29150</c:v>
                </c:pt>
                <c:pt idx="15">
                  <c:v>29650</c:v>
                </c:pt>
                <c:pt idx="16">
                  <c:v>29800</c:v>
                </c:pt>
                <c:pt idx="17">
                  <c:v>29700</c:v>
                </c:pt>
                <c:pt idx="18">
                  <c:v>28250</c:v>
                </c:pt>
                <c:pt idx="19">
                  <c:v>29400</c:v>
                </c:pt>
                <c:pt idx="20">
                  <c:v>33700</c:v>
                </c:pt>
                <c:pt idx="21">
                  <c:v>34100</c:v>
                </c:pt>
                <c:pt idx="22">
                  <c:v>31900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Silico Manganese (INR/kg)</c:v>
                </c:pt>
              </c:strCache>
            </c:strRef>
          </c:tx>
          <c:spPr>
            <a:solidFill>
              <a:srgbClr val="FF8F00"/>
            </a:solidFill>
            <a:ln w="25400" cap="flat">
              <a:solidFill>
                <a:srgbClr val="FF8F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8F00"/>
              </a:solidFill>
              <a:ln w="9525" cap="flat">
                <a:solidFill>
                  <a:srgbClr val="FF8F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  <c:pt idx="22">
                    <c:v>Oct'26</c:v>
                  </c:pt>
                </c:lvl>
              </c:multiLvlStrCache>
            </c:multiLvl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26200</c:v>
                </c:pt>
                <c:pt idx="1">
                  <c:v>27920</c:v>
                </c:pt>
                <c:pt idx="2">
                  <c:v>28560.000000000004</c:v>
                </c:pt>
                <c:pt idx="3">
                  <c:v>29200</c:v>
                </c:pt>
                <c:pt idx="4">
                  <c:v>28320</c:v>
                </c:pt>
                <c:pt idx="5">
                  <c:v>28880</c:v>
                </c:pt>
                <c:pt idx="6">
                  <c:v>28920</c:v>
                </c:pt>
                <c:pt idx="7">
                  <c:v>28920</c:v>
                </c:pt>
                <c:pt idx="8">
                  <c:v>27960.000000000004</c:v>
                </c:pt>
                <c:pt idx="9">
                  <c:v>27960.000000000004</c:v>
                </c:pt>
                <c:pt idx="10">
                  <c:v>28800</c:v>
                </c:pt>
                <c:pt idx="11">
                  <c:v>27960.000000000004</c:v>
                </c:pt>
                <c:pt idx="12">
                  <c:v>27720</c:v>
                </c:pt>
                <c:pt idx="13">
                  <c:v>29239.999999999996</c:v>
                </c:pt>
                <c:pt idx="14">
                  <c:v>29280</c:v>
                </c:pt>
                <c:pt idx="15">
                  <c:v>30200</c:v>
                </c:pt>
                <c:pt idx="16">
                  <c:v>31920</c:v>
                </c:pt>
                <c:pt idx="17">
                  <c:v>29680</c:v>
                </c:pt>
                <c:pt idx="18">
                  <c:v>30880</c:v>
                </c:pt>
                <c:pt idx="19">
                  <c:v>29839.999999999996</c:v>
                </c:pt>
                <c:pt idx="20">
                  <c:v>29839.999999999996</c:v>
                </c:pt>
                <c:pt idx="21">
                  <c:v>32720</c:v>
                </c:pt>
                <c:pt idx="22">
                  <c:v>33360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R:-1,859 | N:-636</c:v>
                  </c:pt>
                  <c:pt idx="18">
                    <c:v>Jun'26
R:+831 | N:+340</c:v>
                  </c:pt>
                  <c:pt idx="19">
                    <c:v>Jul'26
R:-1,893 | N:-1,519</c:v>
                  </c:pt>
                  <c:pt idx="20">
                    <c:v>Aug'26
R:-630 | N:-461</c:v>
                  </c:pt>
                  <c:pt idx="21">
                    <c:v>Sep'26
R:+2,399 | N:+1,791</c:v>
                  </c:pt>
                  <c:pt idx="22">
                    <c:v>Oct'26
R:+443 | N:+123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518.69</c:v>
                </c:pt>
                <c:pt idx="1">
                  <c:v>615.92</c:v>
                </c:pt>
                <c:pt idx="2">
                  <c:v>206.63</c:v>
                </c:pt>
                <c:pt idx="3">
                  <c:v>426.29</c:v>
                </c:pt>
                <c:pt idx="4">
                  <c:v>1612.62</c:v>
                </c:pt>
                <c:pt idx="5">
                  <c:v>1458.55</c:v>
                </c:pt>
                <c:pt idx="6">
                  <c:v>902.54</c:v>
                </c:pt>
                <c:pt idx="7">
                  <c:v>-1172.9</c:v>
                </c:pt>
                <c:pt idx="8">
                  <c:v>-485.6</c:v>
                </c:pt>
                <c:pt idx="9">
                  <c:v>-1776.62</c:v>
                </c:pt>
                <c:pt idx="10">
                  <c:v>-1433.88</c:v>
                </c:pt>
                <c:pt idx="11">
                  <c:v>-1189.77</c:v>
                </c:pt>
                <c:pt idx="12">
                  <c:v>618.4</c:v>
                </c:pt>
                <c:pt idx="13">
                  <c:v>433.02</c:v>
                </c:pt>
                <c:pt idx="14">
                  <c:v>-610.99</c:v>
                </c:pt>
                <c:pt idx="15">
                  <c:v>509.7</c:v>
                </c:pt>
                <c:pt idx="16">
                  <c:v>1241.26</c:v>
                </c:pt>
                <c:pt idx="17">
                  <c:v>-618.18</c:v>
                </c:pt>
                <c:pt idx="18">
                  <c:v>213.13</c:v>
                </c:pt>
                <c:pt idx="19">
                  <c:v>-1680.09</c:v>
                </c:pt>
                <c:pt idx="20">
                  <c:v>-2309.77</c:v>
                </c:pt>
                <c:pt idx="21">
                  <c:v>89.21</c:v>
                </c:pt>
                <c:pt idx="22">
                  <c:v>532.17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R:-1,859 | N:-636</c:v>
                  </c:pt>
                  <c:pt idx="18">
                    <c:v>Jun'26
R:+831 | N:+340</c:v>
                  </c:pt>
                  <c:pt idx="19">
                    <c:v>Jul'26
R:-1,893 | N:-1,519</c:v>
                  </c:pt>
                  <c:pt idx="20">
                    <c:v>Aug'26
R:-630 | N:-461</c:v>
                  </c:pt>
                  <c:pt idx="21">
                    <c:v>Sep'26
R:+2,399 | N:+1,791</c:v>
                  </c:pt>
                  <c:pt idx="22">
                    <c:v>Oct'26
R:+443 | N:+123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85.71</c:v>
                </c:pt>
                <c:pt idx="1">
                  <c:v>349.01</c:v>
                </c:pt>
                <c:pt idx="2">
                  <c:v>170.92</c:v>
                </c:pt>
                <c:pt idx="3">
                  <c:v>-352.58</c:v>
                </c:pt>
                <c:pt idx="4">
                  <c:v>169.18</c:v>
                </c:pt>
                <c:pt idx="5">
                  <c:v>318.45</c:v>
                </c:pt>
                <c:pt idx="6">
                  <c:v>544.96</c:v>
                </c:pt>
                <c:pt idx="7">
                  <c:v>-919.91</c:v>
                </c:pt>
                <c:pt idx="8">
                  <c:v>-610.19</c:v>
                </c:pt>
                <c:pt idx="9">
                  <c:v>-1076.88</c:v>
                </c:pt>
                <c:pt idx="10">
                  <c:v>-869.46</c:v>
                </c:pt>
                <c:pt idx="11">
                  <c:v>-613.2</c:v>
                </c:pt>
                <c:pt idx="12">
                  <c:v>-70.46</c:v>
                </c:pt>
                <c:pt idx="13">
                  <c:v>741.76</c:v>
                </c:pt>
                <c:pt idx="14">
                  <c:v>-105.68</c:v>
                </c:pt>
                <c:pt idx="15">
                  <c:v>172.45</c:v>
                </c:pt>
                <c:pt idx="16">
                  <c:v>217.12</c:v>
                </c:pt>
                <c:pt idx="17">
                  <c:v>-419.08</c:v>
                </c:pt>
                <c:pt idx="18">
                  <c:v>-78.78</c:v>
                </c:pt>
                <c:pt idx="19">
                  <c:v>-1597.66</c:v>
                </c:pt>
                <c:pt idx="20">
                  <c:v>-2059.16</c:v>
                </c:pt>
                <c:pt idx="21">
                  <c:v>-268.49</c:v>
                </c:pt>
                <c:pt idx="22">
                  <c:v>-145.36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R:-2,805 | N:-379</c:v>
                  </c:pt>
                  <c:pt idx="18">
                    <c:v>Jun'26
R:+192 | N:-455</c:v>
                  </c:pt>
                  <c:pt idx="19">
                    <c:v>Jul'26
R:-2,803 | N:-2,722</c:v>
                  </c:pt>
                  <c:pt idx="20">
                    <c:v>Aug'26
R:+932 | N:-299</c:v>
                  </c:pt>
                  <c:pt idx="21">
                    <c:v>Sep'26
R:+2,246 | N:+2,887</c:v>
                  </c:pt>
                  <c:pt idx="22">
                    <c:v>Oct'26
R:+1,609 | N:+941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785.24</c:v>
                </c:pt>
                <c:pt idx="1">
                  <c:v>632.04</c:v>
                </c:pt>
                <c:pt idx="2">
                  <c:v>365.08</c:v>
                </c:pt>
                <c:pt idx="3">
                  <c:v>1330.5</c:v>
                </c:pt>
                <c:pt idx="4">
                  <c:v>3221.52</c:v>
                </c:pt>
                <c:pt idx="5">
                  <c:v>2227.82</c:v>
                </c:pt>
                <c:pt idx="6">
                  <c:v>1583.36</c:v>
                </c:pt>
                <c:pt idx="7">
                  <c:v>-1162.28</c:v>
                </c:pt>
                <c:pt idx="8">
                  <c:v>-262.29</c:v>
                </c:pt>
                <c:pt idx="9">
                  <c:v>-1411.63</c:v>
                </c:pt>
                <c:pt idx="10">
                  <c:v>-1554.96</c:v>
                </c:pt>
                <c:pt idx="11">
                  <c:v>-1118.49</c:v>
                </c:pt>
                <c:pt idx="12">
                  <c:v>594.55</c:v>
                </c:pt>
                <c:pt idx="13">
                  <c:v>1130.09</c:v>
                </c:pt>
                <c:pt idx="14">
                  <c:v>536.13</c:v>
                </c:pt>
                <c:pt idx="15">
                  <c:v>2456.18</c:v>
                </c:pt>
                <c:pt idx="16">
                  <c:v>2635.19</c:v>
                </c:pt>
                <c:pt idx="17">
                  <c:v>-169.52</c:v>
                </c:pt>
                <c:pt idx="18">
                  <c:v>22.04</c:v>
                </c:pt>
                <c:pt idx="19">
                  <c:v>-2780.73</c:v>
                </c:pt>
                <c:pt idx="20">
                  <c:v>-1848.25</c:v>
                </c:pt>
                <c:pt idx="21">
                  <c:v>397.93</c:v>
                </c:pt>
                <c:pt idx="22">
                  <c:v>2006.82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R:-2,805 | N:-379</c:v>
                  </c:pt>
                  <c:pt idx="18">
                    <c:v>Jun'26
R:+192 | N:-455</c:v>
                  </c:pt>
                  <c:pt idx="19">
                    <c:v>Jul'26
R:-2,803 | N:-2,722</c:v>
                  </c:pt>
                  <c:pt idx="20">
                    <c:v>Aug'26
R:+932 | N:-299</c:v>
                  </c:pt>
                  <c:pt idx="21">
                    <c:v>Sep'26
R:+2,246 | N:+2,887</c:v>
                  </c:pt>
                  <c:pt idx="22">
                    <c:v>Oct'26
R:+1,609 | N:+941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1176.79</c:v>
                </c:pt>
                <c:pt idx="1">
                  <c:v>1041.4</c:v>
                </c:pt>
                <c:pt idx="2">
                  <c:v>1155.49</c:v>
                </c:pt>
                <c:pt idx="3">
                  <c:v>2130.2</c:v>
                </c:pt>
                <c:pt idx="4">
                  <c:v>3002.54</c:v>
                </c:pt>
                <c:pt idx="5">
                  <c:v>2211.4</c:v>
                </c:pt>
                <c:pt idx="6">
                  <c:v>2045.32</c:v>
                </c:pt>
                <c:pt idx="7">
                  <c:v>971.93</c:v>
                </c:pt>
                <c:pt idx="8">
                  <c:v>193.73</c:v>
                </c:pt>
                <c:pt idx="9">
                  <c:v>-279.89</c:v>
                </c:pt>
                <c:pt idx="10">
                  <c:v>-859.62</c:v>
                </c:pt>
                <c:pt idx="11">
                  <c:v>-565.31</c:v>
                </c:pt>
                <c:pt idx="12">
                  <c:v>630.58</c:v>
                </c:pt>
                <c:pt idx="13">
                  <c:v>2214.89</c:v>
                </c:pt>
                <c:pt idx="14">
                  <c:v>2774.28</c:v>
                </c:pt>
                <c:pt idx="15">
                  <c:v>4245.83</c:v>
                </c:pt>
                <c:pt idx="16">
                  <c:v>2032.86</c:v>
                </c:pt>
                <c:pt idx="17">
                  <c:v>1653.57</c:v>
                </c:pt>
                <c:pt idx="18">
                  <c:v>1198.99</c:v>
                </c:pt>
                <c:pt idx="19">
                  <c:v>-1523.24</c:v>
                </c:pt>
                <c:pt idx="20">
                  <c:v>-1822.03</c:v>
                </c:pt>
                <c:pt idx="21">
                  <c:v>1065.37</c:v>
                </c:pt>
                <c:pt idx="22">
                  <c:v>2006.27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cost &amp; margin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raw material prices and margin trends with period-on-period changes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2024-12-12 to 2026-10-19  |  23 months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-1,900  |  NCR -2,600     •     Avg:  Raipur 33,246  |  NCR 33,722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— Raipur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Pallet DRI: -1,800 INR/MT  |  Pig Iron: -200 INR/MT  |  Iron Ore DRI: -2,200 INR/MT  |  Silico Manganese: +1.6 INR/kg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+443  |  NCR +123     •     Avg:  Raipur -83  |  NCR -279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+1,609  |  NCR +941     •     Avg:  Raipur 418  |  NCR 1,161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2026-10-19T05:20:14Z</dcterms:created>
  <dcterms:modified xsi:type="dcterms:W3CDTF">2026-10-19T05:20:14Z</dcterms:modified>
</cp:coreProperties>
</file>