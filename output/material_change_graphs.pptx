
<file path=[Content_Types].xml><?xml version="1.0" encoding="utf-8"?>
<ns0:Types xmlns:ns0="http://schemas.openxmlformats.org/package/2006/content-types">
  <ns0:Default Extension="xml" ContentType="application/xml"/>
  <ns0:Default Extension="rels" ContentType="application/vnd.openxmlformats-package.relationships+xml"/>
  <ns0:Default Extension="jpeg" ContentType="image/jpeg"/>
  <ns0:Default Extension="jpg" ContentType="image/jpg"/>
  <ns0:Default Extension="svg" ContentType="image/svg+xml"/>
  <ns0:Default Extension="png" ContentType="image/png"/>
  <ns0:Default Extension="gif" ContentType="image/gif"/>
  <ns0:Default Extension="m4v" ContentType="video/mp4"/>
  <ns0:Default Extension="mp4" ContentType="video/mp4"/>
  <ns0:Default Extension="vml" ContentType="application/vnd.openxmlformats-officedocument.vmlDrawing"/>
  <ns0:Default Extension="xlsx" ContentType="application/vnd.openxmlformats-officedocument.spreadsheetml.sheet"/>
  <ns0:Override PartName="/ppt/presentation.xml" ContentType="application/vnd.openxmlformats-officedocument.presentationml.presentation.main+xml"/>
  <ns0:Override PartName="/ppt/notesMasters/notesMaster1.xml" ContentType="application/vnd.openxmlformats-officedocument.presentationml.notesMaster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charts/chart1.xml" ContentType="application/vnd.openxmlformats-officedocument.drawingml.chart+xml"/>
  <ns0:Override PartName="/ppt/slides/slide3.xml" ContentType="application/vnd.openxmlformats-officedocument.presentationml.slide+xml"/>
  <ns0:Override PartName="/ppt/charts/chart2.xml" ContentType="application/vnd.openxmlformats-officedocument.drawingml.chart+xml"/>
  <ns0:Override PartName="/ppt/slides/slide4.xml" ContentType="application/vnd.openxmlformats-officedocument.presentationml.slide+xml"/>
  <ns0:Override PartName="/ppt/charts/chart3.xml" ContentType="application/vnd.openxmlformats-officedocument.drawingml.chart+xml"/>
  <ns0:Override PartName="/ppt/slides/slide5.xml" ContentType="application/vnd.openxmlformats-officedocument.presentationml.slide+xml"/>
  <ns0:Override PartName="/ppt/charts/chart4.xml" ContentType="application/vnd.openxmlformats-officedocument.drawingml.char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31800</c:v>
                </c:pt>
                <c:pt idx="6">
                  <c:v>31100</c:v>
                </c:pt>
                <c:pt idx="7">
                  <c:v>31200</c:v>
                </c:pt>
                <c:pt idx="8">
                  <c:v>31500</c:v>
                </c:pt>
                <c:pt idx="9">
                  <c:v>31800</c:v>
                </c:pt>
                <c:pt idx="10">
                  <c:v>30200</c:v>
                </c:pt>
                <c:pt idx="11">
                  <c:v>31000</c:v>
                </c:pt>
                <c:pt idx="12">
                  <c:v>31500</c:v>
                </c:pt>
                <c:pt idx="13">
                  <c:v>33750</c:v>
                </c:pt>
                <c:pt idx="14">
                  <c:v>33700</c:v>
                </c:pt>
                <c:pt idx="15">
                  <c:v>34500</c:v>
                </c:pt>
                <c:pt idx="16">
                  <c:v>35600</c:v>
                </c:pt>
                <c:pt idx="17">
                  <c:v>34900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
R:+700 | N:-300</c:v>
                  </c:pt>
                  <c:pt idx="2">
                    <c:v>Feb'25
R:+800 | N:+900</c:v>
                  </c:pt>
                  <c:pt idx="3">
                    <c:v>Mar'25
R:+600 | N:-500</c:v>
                  </c:pt>
                  <c:pt idx="4">
                    <c:v>Apr'25
R:-700 | N:+600</c:v>
                  </c:pt>
                  <c:pt idx="5">
                    <c:v>May'25
R:-900 | N:-1,000</c:v>
                  </c:pt>
                  <c:pt idx="6">
                    <c:v>Jun'25
R:-700 | N:-400</c:v>
                  </c:pt>
                  <c:pt idx="7">
                    <c:v>Jul'25
R:+100 | N:-500</c:v>
                  </c:pt>
                  <c:pt idx="8">
                    <c:v>Aug'25
R:+300 | N:-1,200</c:v>
                  </c:pt>
                  <c:pt idx="9">
                    <c:v>Sep'25
R:+300 | N:+700</c:v>
                  </c:pt>
                  <c:pt idx="10">
                    <c:v>Oct'25
R:-1,600 | N:-1,500</c:v>
                  </c:pt>
                  <c:pt idx="11">
                    <c:v>Nov'25
R:+800 | N:+1,900</c:v>
                  </c:pt>
                  <c:pt idx="12">
                    <c:v>Dec'25
R:+500 | N:-100</c:v>
                  </c:pt>
                  <c:pt idx="13">
                    <c:v>Jan'26
R:+2,250 | N:+2,700</c:v>
                  </c:pt>
                  <c:pt idx="14">
                    <c:v>Feb'26
R:-50 | N:-1,600</c:v>
                  </c:pt>
                  <c:pt idx="15">
                    <c:v>Mar'26
R:+800 | N:+1,700</c:v>
                  </c:pt>
                  <c:pt idx="16">
                    <c:v>Apr'26
R:+1,100 | N:+1,300</c:v>
                  </c:pt>
                  <c:pt idx="17">
                    <c:v>May'26
R:-700 | N:-900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32800</c:v>
                </c:pt>
                <c:pt idx="6">
                  <c:v>32400</c:v>
                </c:pt>
                <c:pt idx="7">
                  <c:v>31900</c:v>
                </c:pt>
                <c:pt idx="8">
                  <c:v>30700</c:v>
                </c:pt>
                <c:pt idx="9">
                  <c:v>31400</c:v>
                </c:pt>
                <c:pt idx="10">
                  <c:v>29900</c:v>
                </c:pt>
                <c:pt idx="11">
                  <c:v>31800</c:v>
                </c:pt>
                <c:pt idx="12">
                  <c:v>31700</c:v>
                </c:pt>
                <c:pt idx="13">
                  <c:v>34400</c:v>
                </c:pt>
                <c:pt idx="14">
                  <c:v>32800</c:v>
                </c:pt>
                <c:pt idx="15">
                  <c:v>34500</c:v>
                </c:pt>
                <c:pt idx="16">
                  <c:v>35800</c:v>
                </c:pt>
                <c:pt idx="17">
                  <c:v>34900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23700</c:v>
                </c:pt>
                <c:pt idx="6">
                  <c:v>22350</c:v>
                </c:pt>
                <c:pt idx="7">
                  <c:v>24800</c:v>
                </c:pt>
                <c:pt idx="8">
                  <c:v>23150</c:v>
                </c:pt>
                <c:pt idx="9">
                  <c:v>24300</c:v>
                </c:pt>
                <c:pt idx="10">
                  <c:v>22800</c:v>
                </c:pt>
                <c:pt idx="11">
                  <c:v>23750</c:v>
                </c:pt>
                <c:pt idx="12">
                  <c:v>22900</c:v>
                </c:pt>
                <c:pt idx="13">
                  <c:v>25750</c:v>
                </c:pt>
                <c:pt idx="14">
                  <c:v>25800</c:v>
                </c:pt>
                <c:pt idx="15">
                  <c:v>25800</c:v>
                </c:pt>
                <c:pt idx="16">
                  <c:v>25550</c:v>
                </c:pt>
                <c:pt idx="17">
                  <c:v>25250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33100</c:v>
                </c:pt>
                <c:pt idx="6">
                  <c:v>32550</c:v>
                </c:pt>
                <c:pt idx="7">
                  <c:v>33700</c:v>
                </c:pt>
                <c:pt idx="8">
                  <c:v>33250</c:v>
                </c:pt>
                <c:pt idx="9">
                  <c:v>32850</c:v>
                </c:pt>
                <c:pt idx="10">
                  <c:v>31800</c:v>
                </c:pt>
                <c:pt idx="11">
                  <c:v>32400</c:v>
                </c:pt>
                <c:pt idx="12">
                  <c:v>33000</c:v>
                </c:pt>
                <c:pt idx="13">
                  <c:v>38150</c:v>
                </c:pt>
                <c:pt idx="14">
                  <c:v>37800</c:v>
                </c:pt>
                <c:pt idx="15">
                  <c:v>37050</c:v>
                </c:pt>
                <c:pt idx="16">
                  <c:v>39700</c:v>
                </c:pt>
                <c:pt idx="17">
                  <c:v>38350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</c:lvl>
              </c:multiLvlStrCache>
            </c:multiLvl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27700</c:v>
                </c:pt>
                <c:pt idx="6">
                  <c:v>26400</c:v>
                </c:pt>
                <c:pt idx="7">
                  <c:v>28800</c:v>
                </c:pt>
                <c:pt idx="8">
                  <c:v>27750</c:v>
                </c:pt>
                <c:pt idx="9">
                  <c:v>28450</c:v>
                </c:pt>
                <c:pt idx="10">
                  <c:v>26800</c:v>
                </c:pt>
                <c:pt idx="11">
                  <c:v>26950</c:v>
                </c:pt>
                <c:pt idx="12">
                  <c:v>26900</c:v>
                </c:pt>
                <c:pt idx="13">
                  <c:v>29150</c:v>
                </c:pt>
                <c:pt idx="14">
                  <c:v>29150</c:v>
                </c:pt>
                <c:pt idx="15">
                  <c:v>29650</c:v>
                </c:pt>
                <c:pt idx="16">
                  <c:v>29800</c:v>
                </c:pt>
                <c:pt idx="17">
                  <c:v>29700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 (INR/kg)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Jun'25</c:v>
                  </c:pt>
                  <c:pt idx="7">
                    <c:v>Jul'25</c:v>
                  </c:pt>
                  <c:pt idx="8">
                    <c:v>Aug'25</c:v>
                  </c:pt>
                  <c:pt idx="9">
                    <c:v>Sep'25</c:v>
                  </c:pt>
                  <c:pt idx="10">
                    <c:v>Oct'25</c:v>
                  </c:pt>
                  <c:pt idx="11">
                    <c:v>Nov'25</c:v>
                  </c:pt>
                  <c:pt idx="12">
                    <c:v>Dec'25</c:v>
                  </c:pt>
                  <c:pt idx="13">
                    <c:v>Jan'26</c:v>
                  </c:pt>
                  <c:pt idx="14">
                    <c:v>Feb'26</c:v>
                  </c:pt>
                  <c:pt idx="15">
                    <c:v>Mar'26</c:v>
                  </c:pt>
                  <c:pt idx="16">
                    <c:v>Apr'26</c:v>
                  </c:pt>
                  <c:pt idx="17">
                    <c:v>May'26</c:v>
                  </c:pt>
                </c:lvl>
              </c:multiLvlStrCache>
            </c:multiLvl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26200</c:v>
                </c:pt>
                <c:pt idx="1">
                  <c:v>27920</c:v>
                </c:pt>
                <c:pt idx="2">
                  <c:v>28560.000000000004</c:v>
                </c:pt>
                <c:pt idx="3">
                  <c:v>29200</c:v>
                </c:pt>
                <c:pt idx="4">
                  <c:v>28320</c:v>
                </c:pt>
                <c:pt idx="5">
                  <c:v>28880</c:v>
                </c:pt>
                <c:pt idx="6">
                  <c:v>28920</c:v>
                </c:pt>
                <c:pt idx="7">
                  <c:v>28920</c:v>
                </c:pt>
                <c:pt idx="8">
                  <c:v>27960.000000000004</c:v>
                </c:pt>
                <c:pt idx="9">
                  <c:v>27960.000000000004</c:v>
                </c:pt>
                <c:pt idx="10">
                  <c:v>28800</c:v>
                </c:pt>
                <c:pt idx="11">
                  <c:v>27960.000000000004</c:v>
                </c:pt>
                <c:pt idx="12">
                  <c:v>27720</c:v>
                </c:pt>
                <c:pt idx="13">
                  <c:v>29239.999999999996</c:v>
                </c:pt>
                <c:pt idx="14">
                  <c:v>29280</c:v>
                </c:pt>
                <c:pt idx="15">
                  <c:v>30200</c:v>
                </c:pt>
                <c:pt idx="16">
                  <c:v>31920</c:v>
                </c:pt>
                <c:pt idx="17">
                  <c:v>29680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1458.55</c:v>
                </c:pt>
                <c:pt idx="6">
                  <c:v>902.54</c:v>
                </c:pt>
                <c:pt idx="7">
                  <c:v>-1172.9</c:v>
                </c:pt>
                <c:pt idx="8">
                  <c:v>-485.6</c:v>
                </c:pt>
                <c:pt idx="9">
                  <c:v>-1776.62</c:v>
                </c:pt>
                <c:pt idx="10">
                  <c:v>-1433.88</c:v>
                </c:pt>
                <c:pt idx="11">
                  <c:v>-1189.77</c:v>
                </c:pt>
                <c:pt idx="12">
                  <c:v>618.4</c:v>
                </c:pt>
                <c:pt idx="13">
                  <c:v>433.02</c:v>
                </c:pt>
                <c:pt idx="14">
                  <c:v>-610.99</c:v>
                </c:pt>
                <c:pt idx="15">
                  <c:v>509.7</c:v>
                </c:pt>
                <c:pt idx="16">
                  <c:v>1241.26</c:v>
                </c:pt>
                <c:pt idx="17">
                  <c:v>-618.18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
R:+97 | N:+263</c:v>
                  </c:pt>
                  <c:pt idx="2">
                    <c:v>Feb'25
R:-409 | N:-178</c:v>
                  </c:pt>
                  <c:pt idx="3">
                    <c:v>Mar'25
R:+220 | N:-523</c:v>
                  </c:pt>
                  <c:pt idx="4">
                    <c:v>Apr'25
R:+1,186 | N:+522</c:v>
                  </c:pt>
                  <c:pt idx="5">
                    <c:v>May'25
R:-154 | N:+149</c:v>
                  </c:pt>
                  <c:pt idx="6">
                    <c:v>Jun'25
R:-556 | N:+227</c:v>
                  </c:pt>
                  <c:pt idx="7">
                    <c:v>Jul'25
R:-2,075 | N:-1,465</c:v>
                  </c:pt>
                  <c:pt idx="8">
                    <c:v>Aug'25
R:+687 | N:+310</c:v>
                  </c:pt>
                  <c:pt idx="9">
                    <c:v>Sep'25
R:-1,291 | N:-467</c:v>
                  </c:pt>
                  <c:pt idx="10">
                    <c:v>Oct'25
R:+343 | N:+207</c:v>
                  </c:pt>
                  <c:pt idx="11">
                    <c:v>Nov'25
R:+244 | N:+256</c:v>
                  </c:pt>
                  <c:pt idx="12">
                    <c:v>Dec'25
R:+1,808 | N:+543</c:v>
                  </c:pt>
                  <c:pt idx="13">
                    <c:v>Jan'26
R:-185 | N:+812</c:v>
                  </c:pt>
                  <c:pt idx="14">
                    <c:v>Feb'26
R:-1,044 | N:-847</c:v>
                  </c:pt>
                  <c:pt idx="15">
                    <c:v>Mar'26
R:+1,121 | N:+278</c:v>
                  </c:pt>
                  <c:pt idx="16">
                    <c:v>Apr'26
R:+732 | N:+45</c:v>
                  </c:pt>
                  <c:pt idx="17">
                    <c:v>May'26
R:-1,859 | N:-636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318.45</c:v>
                </c:pt>
                <c:pt idx="6">
                  <c:v>544.96</c:v>
                </c:pt>
                <c:pt idx="7">
                  <c:v>-919.91</c:v>
                </c:pt>
                <c:pt idx="8">
                  <c:v>-610.19</c:v>
                </c:pt>
                <c:pt idx="9">
                  <c:v>-1076.88</c:v>
                </c:pt>
                <c:pt idx="10">
                  <c:v>-869.46</c:v>
                </c:pt>
                <c:pt idx="11">
                  <c:v>-613.2</c:v>
                </c:pt>
                <c:pt idx="12">
                  <c:v>-70.46</c:v>
                </c:pt>
                <c:pt idx="13">
                  <c:v>741.76</c:v>
                </c:pt>
                <c:pt idx="14">
                  <c:v>-105.68</c:v>
                </c:pt>
                <c:pt idx="15">
                  <c:v>172.45</c:v>
                </c:pt>
                <c:pt idx="16">
                  <c:v>217.12</c:v>
                </c:pt>
                <c:pt idx="17">
                  <c:v>-419.08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2227.82</c:v>
                </c:pt>
                <c:pt idx="6">
                  <c:v>1583.36</c:v>
                </c:pt>
                <c:pt idx="7">
                  <c:v>-1162.28</c:v>
                </c:pt>
                <c:pt idx="8">
                  <c:v>-262.29</c:v>
                </c:pt>
                <c:pt idx="9">
                  <c:v>-1411.63</c:v>
                </c:pt>
                <c:pt idx="10">
                  <c:v>-1554.96</c:v>
                </c:pt>
                <c:pt idx="11">
                  <c:v>-1118.49</c:v>
                </c:pt>
                <c:pt idx="12">
                  <c:v>594.55</c:v>
                </c:pt>
                <c:pt idx="13">
                  <c:v>1130.09</c:v>
                </c:pt>
                <c:pt idx="14">
                  <c:v>536.13</c:v>
                </c:pt>
                <c:pt idx="15">
                  <c:v>2456.18</c:v>
                </c:pt>
                <c:pt idx="16">
                  <c:v>2635.19</c:v>
                </c:pt>
                <c:pt idx="17">
                  <c:v>-169.52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Dec'24</c:v>
                  </c:pt>
                  <c:pt idx="1">
                    <c:v>Jan'25
R:-153 | N:-135</c:v>
                  </c:pt>
                  <c:pt idx="2">
                    <c:v>Feb'25
R:-267 | N:+114</c:v>
                  </c:pt>
                  <c:pt idx="3">
                    <c:v>Mar'25
R:+965 | N:+975</c:v>
                  </c:pt>
                  <c:pt idx="4">
                    <c:v>Apr'25
R:+1,891 | N:+872</c:v>
                  </c:pt>
                  <c:pt idx="5">
                    <c:v>May'25
R:-994 | N:-791</c:v>
                  </c:pt>
                  <c:pt idx="6">
                    <c:v>Jun'25
R:-644 | N:-166</c:v>
                  </c:pt>
                  <c:pt idx="7">
                    <c:v>Jul'25
R:-2,746 | N:-1,073</c:v>
                  </c:pt>
                  <c:pt idx="8">
                    <c:v>Aug'25
R:+900 | N:-778</c:v>
                  </c:pt>
                  <c:pt idx="9">
                    <c:v>Sep'25
R:-1,149 | N:-474</c:v>
                  </c:pt>
                  <c:pt idx="10">
                    <c:v>Oct'25
R:-143 | N:-580</c:v>
                  </c:pt>
                  <c:pt idx="11">
                    <c:v>Nov'25
R:+436 | N:+294</c:v>
                  </c:pt>
                  <c:pt idx="12">
                    <c:v>Dec'25
R:+1,713 | N:+1,196</c:v>
                  </c:pt>
                  <c:pt idx="13">
                    <c:v>Jan'26
R:+536 | N:+1,584</c:v>
                  </c:pt>
                  <c:pt idx="14">
                    <c:v>Feb'26
R:-594 | N:+559</c:v>
                  </c:pt>
                  <c:pt idx="15">
                    <c:v>Mar'26
R:+1,920 | N:+1,472</c:v>
                  </c:pt>
                  <c:pt idx="16">
                    <c:v>Apr'26
R:+179 | N:-2,213</c:v>
                  </c:pt>
                  <c:pt idx="17">
                    <c:v>May'26
R:-2,805 | N:-379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2211.4</c:v>
                </c:pt>
                <c:pt idx="6">
                  <c:v>2045.32</c:v>
                </c:pt>
                <c:pt idx="7">
                  <c:v>971.93</c:v>
                </c:pt>
                <c:pt idx="8">
                  <c:v>193.73</c:v>
                </c:pt>
                <c:pt idx="9">
                  <c:v>-279.89</c:v>
                </c:pt>
                <c:pt idx="10">
                  <c:v>-859.62</c:v>
                </c:pt>
                <c:pt idx="11">
                  <c:v>-565.31</c:v>
                </c:pt>
                <c:pt idx="12">
                  <c:v>630.58</c:v>
                </c:pt>
                <c:pt idx="13">
                  <c:v>2214.89</c:v>
                </c:pt>
                <c:pt idx="14">
                  <c:v>2774.28</c:v>
                </c:pt>
                <c:pt idx="15">
                  <c:v>4245.83</c:v>
                </c:pt>
                <c:pt idx="16">
                  <c:v>2032.86</c:v>
                </c:pt>
                <c:pt idx="17">
                  <c:v>1653.57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raw material prices and margin trends with period-on-period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2026-05-28  |  18 months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-700  |  NCR -900     •     Avg:  Raipur 32,486  |  NCR 32,867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-300 INR/MT  |  Pig Iron: -1,350 INR/MT  |  Iron Ore DRI: -100 INR/MT  |  Silico Manganese: -5.6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-1,859  |  NCR -636     •     Avg:  Raipur 70  |  NCR -126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34924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3492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Latest:  Raipur -2,805  |  NCR -379     •     Avg:  Raipur 657  |  NCR 1,432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2026-05-28T05:10:24Z</dcterms:created>
  <dcterms:modified xsi:type="dcterms:W3CDTF">2026-05-28T05:10:24Z</dcterms:modified>
</cp:coreProperties>
</file>