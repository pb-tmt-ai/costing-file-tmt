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31300</c:v>
                </c:pt>
                <c:pt idx="1">
                  <c:v>32000</c:v>
                </c:pt>
                <c:pt idx="2">
                  <c:v>32800</c:v>
                </c:pt>
                <c:pt idx="3">
                  <c:v>33400</c:v>
                </c:pt>
                <c:pt idx="4">
                  <c:v>32700</c:v>
                </c:pt>
                <c:pt idx="5">
                  <c:v>32700</c:v>
                </c:pt>
                <c:pt idx="6">
                  <c:v>31800</c:v>
                </c:pt>
                <c:pt idx="7">
                  <c:v>31100</c:v>
                </c:pt>
                <c:pt idx="8">
                  <c:v>30900</c:v>
                </c:pt>
                <c:pt idx="9">
                  <c:v>31500</c:v>
                </c:pt>
                <c:pt idx="10">
                  <c:v>31200</c:v>
                </c:pt>
                <c:pt idx="11">
                  <c:v>31500</c:v>
                </c:pt>
                <c:pt idx="12">
                  <c:v>31800</c:v>
                </c:pt>
                <c:pt idx="13">
                  <c:v>30200</c:v>
                </c:pt>
                <c:pt idx="14">
                  <c:v>31000</c:v>
                </c:pt>
                <c:pt idx="15">
                  <c:v>31300</c:v>
                </c:pt>
                <c:pt idx="16">
                  <c:v>31500</c:v>
                </c:pt>
                <c:pt idx="17">
                  <c:v>33450</c:v>
                </c:pt>
                <c:pt idx="18">
                  <c:v>33750</c:v>
                </c:pt>
                <c:pt idx="19">
                  <c:v>33750</c:v>
                </c:pt>
                <c:pt idx="20">
                  <c:v>34850</c:v>
                </c:pt>
                <c:pt idx="21">
                  <c:v>33800</c:v>
                </c:pt>
                <c:pt idx="22">
                  <c:v>33700</c:v>
                </c:pt>
                <c:pt idx="23">
                  <c:v>34800</c:v>
                </c:pt>
                <c:pt idx="24">
                  <c:v>34900</c:v>
                </c:pt>
                <c:pt idx="25">
                  <c:v>34400</c:v>
                </c:pt>
                <c:pt idx="26">
                  <c:v>34500</c:v>
                </c:pt>
                <c:pt idx="27">
                  <c:v>36000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33100</c:v>
                </c:pt>
                <c:pt idx="1">
                  <c:v>32800</c:v>
                </c:pt>
                <c:pt idx="2">
                  <c:v>33700</c:v>
                </c:pt>
                <c:pt idx="3">
                  <c:v>33200</c:v>
                </c:pt>
                <c:pt idx="4">
                  <c:v>33800</c:v>
                </c:pt>
                <c:pt idx="5">
                  <c:v>33600</c:v>
                </c:pt>
                <c:pt idx="6">
                  <c:v>32800</c:v>
                </c:pt>
                <c:pt idx="7">
                  <c:v>32400</c:v>
                </c:pt>
                <c:pt idx="8">
                  <c:v>32300</c:v>
                </c:pt>
                <c:pt idx="9">
                  <c:v>31900</c:v>
                </c:pt>
                <c:pt idx="10">
                  <c:v>31900</c:v>
                </c:pt>
                <c:pt idx="11">
                  <c:v>30700</c:v>
                </c:pt>
                <c:pt idx="12">
                  <c:v>31400</c:v>
                </c:pt>
                <c:pt idx="13">
                  <c:v>29900</c:v>
                </c:pt>
                <c:pt idx="14">
                  <c:v>31800</c:v>
                </c:pt>
                <c:pt idx="15">
                  <c:v>31300</c:v>
                </c:pt>
                <c:pt idx="16">
                  <c:v>31700</c:v>
                </c:pt>
                <c:pt idx="17">
                  <c:v>33600</c:v>
                </c:pt>
                <c:pt idx="18">
                  <c:v>34600</c:v>
                </c:pt>
                <c:pt idx="19">
                  <c:v>34400</c:v>
                </c:pt>
                <c:pt idx="20">
                  <c:v>34900</c:v>
                </c:pt>
                <c:pt idx="21">
                  <c:v>33100</c:v>
                </c:pt>
                <c:pt idx="22">
                  <c:v>32800</c:v>
                </c:pt>
                <c:pt idx="23">
                  <c:v>34700</c:v>
                </c:pt>
                <c:pt idx="24">
                  <c:v>35000</c:v>
                </c:pt>
                <c:pt idx="25">
                  <c:v>34500</c:v>
                </c:pt>
                <c:pt idx="26">
                  <c:v>34500</c:v>
                </c:pt>
                <c:pt idx="27">
                  <c:v>36500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Pallet DRI</c:v>
                </c:pt>
              </c:strCache>
            </c:strRef>
          </c:tx>
          <c:spPr>
            <a:solidFill>
              <a:srgbClr val="1565C0"/>
            </a:solidFill>
            <a:ln w="2540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24200</c:v>
                </c:pt>
                <c:pt idx="1">
                  <c:v>24100</c:v>
                </c:pt>
                <c:pt idx="2">
                  <c:v>24900</c:v>
                </c:pt>
                <c:pt idx="3">
                  <c:v>25050</c:v>
                </c:pt>
                <c:pt idx="4">
                  <c:v>24700</c:v>
                </c:pt>
                <c:pt idx="5">
                  <c:v>24200</c:v>
                </c:pt>
                <c:pt idx="6">
                  <c:v>23700</c:v>
                </c:pt>
                <c:pt idx="7">
                  <c:v>22350</c:v>
                </c:pt>
                <c:pt idx="8">
                  <c:v>22550</c:v>
                </c:pt>
                <c:pt idx="9">
                  <c:v>24900</c:v>
                </c:pt>
                <c:pt idx="10">
                  <c:v>24800</c:v>
                </c:pt>
                <c:pt idx="11">
                  <c:v>23150</c:v>
                </c:pt>
                <c:pt idx="12">
                  <c:v>24300</c:v>
                </c:pt>
                <c:pt idx="13">
                  <c:v>22800</c:v>
                </c:pt>
                <c:pt idx="14">
                  <c:v>23750</c:v>
                </c:pt>
                <c:pt idx="15">
                  <c:v>22550</c:v>
                </c:pt>
                <c:pt idx="16">
                  <c:v>22900</c:v>
                </c:pt>
                <c:pt idx="17">
                  <c:v>24300</c:v>
                </c:pt>
                <c:pt idx="18">
                  <c:v>25650</c:v>
                </c:pt>
                <c:pt idx="19">
                  <c:v>25750</c:v>
                </c:pt>
                <c:pt idx="20">
                  <c:v>27500</c:v>
                </c:pt>
                <c:pt idx="21">
                  <c:v>26100</c:v>
                </c:pt>
                <c:pt idx="22">
                  <c:v>25800</c:v>
                </c:pt>
                <c:pt idx="23">
                  <c:v>26650</c:v>
                </c:pt>
                <c:pt idx="24">
                  <c:v>26300</c:v>
                </c:pt>
                <c:pt idx="25">
                  <c:v>25450</c:v>
                </c:pt>
                <c:pt idx="26">
                  <c:v>25800</c:v>
                </c:pt>
                <c:pt idx="27">
                  <c:v>27400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Pig Iron</c:v>
                </c:pt>
              </c:strCache>
            </c:strRef>
          </c:tx>
          <c:spPr>
            <a:solidFill>
              <a:srgbClr val="D32F2F"/>
            </a:solidFill>
            <a:ln w="25400" cap="flat">
              <a:solidFill>
                <a:srgbClr val="D32F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32F2F"/>
              </a:solidFill>
              <a:ln w="9525" cap="flat">
                <a:solidFill>
                  <a:srgbClr val="D32F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32550</c:v>
                </c:pt>
                <c:pt idx="1">
                  <c:v>32400</c:v>
                </c:pt>
                <c:pt idx="2">
                  <c:v>33200</c:v>
                </c:pt>
                <c:pt idx="3">
                  <c:v>36250</c:v>
                </c:pt>
                <c:pt idx="4">
                  <c:v>34800</c:v>
                </c:pt>
                <c:pt idx="5">
                  <c:v>34200</c:v>
                </c:pt>
                <c:pt idx="6">
                  <c:v>33100</c:v>
                </c:pt>
                <c:pt idx="7">
                  <c:v>32550</c:v>
                </c:pt>
                <c:pt idx="8">
                  <c:v>32450</c:v>
                </c:pt>
                <c:pt idx="9">
                  <c:v>33700</c:v>
                </c:pt>
                <c:pt idx="10">
                  <c:v>33700</c:v>
                </c:pt>
                <c:pt idx="11">
                  <c:v>33250</c:v>
                </c:pt>
                <c:pt idx="12">
                  <c:v>32850</c:v>
                </c:pt>
                <c:pt idx="13">
                  <c:v>31800</c:v>
                </c:pt>
                <c:pt idx="14">
                  <c:v>32400</c:v>
                </c:pt>
                <c:pt idx="15">
                  <c:v>33000</c:v>
                </c:pt>
                <c:pt idx="16">
                  <c:v>33000</c:v>
                </c:pt>
                <c:pt idx="17">
                  <c:v>37000</c:v>
                </c:pt>
                <c:pt idx="18">
                  <c:v>38000</c:v>
                </c:pt>
                <c:pt idx="19">
                  <c:v>38150</c:v>
                </c:pt>
                <c:pt idx="20">
                  <c:v>38300</c:v>
                </c:pt>
                <c:pt idx="21">
                  <c:v>37950</c:v>
                </c:pt>
                <c:pt idx="22">
                  <c:v>37800</c:v>
                </c:pt>
                <c:pt idx="23">
                  <c:v>37550</c:v>
                </c:pt>
                <c:pt idx="24">
                  <c:v>37300</c:v>
                </c:pt>
                <c:pt idx="25">
                  <c:v>37250</c:v>
                </c:pt>
                <c:pt idx="26">
                  <c:v>37050</c:v>
                </c:pt>
                <c:pt idx="27">
                  <c:v>38550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Iron Ore DRI</c:v>
                </c:pt>
              </c:strCache>
            </c:strRef>
          </c:tx>
          <c:spPr>
            <a:solidFill>
              <a:srgbClr val="616161"/>
            </a:solidFill>
            <a:ln w="25400" cap="flat">
              <a:solidFill>
                <a:srgbClr val="6161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16161"/>
              </a:solidFill>
              <a:ln w="9525" cap="flat">
                <a:solidFill>
                  <a:srgbClr val="6161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28800</c:v>
                </c:pt>
                <c:pt idx="1">
                  <c:v>29000</c:v>
                </c:pt>
                <c:pt idx="2">
                  <c:v>29600</c:v>
                </c:pt>
                <c:pt idx="3">
                  <c:v>29000</c:v>
                </c:pt>
                <c:pt idx="4">
                  <c:v>29000</c:v>
                </c:pt>
                <c:pt idx="5">
                  <c:v>28550</c:v>
                </c:pt>
                <c:pt idx="6">
                  <c:v>27700</c:v>
                </c:pt>
                <c:pt idx="7">
                  <c:v>26400</c:v>
                </c:pt>
                <c:pt idx="8">
                  <c:v>26500</c:v>
                </c:pt>
                <c:pt idx="9">
                  <c:v>28900</c:v>
                </c:pt>
                <c:pt idx="10">
                  <c:v>28800</c:v>
                </c:pt>
                <c:pt idx="11">
                  <c:v>27750</c:v>
                </c:pt>
                <c:pt idx="12">
                  <c:v>28450</c:v>
                </c:pt>
                <c:pt idx="13">
                  <c:v>26800</c:v>
                </c:pt>
                <c:pt idx="14">
                  <c:v>26950</c:v>
                </c:pt>
                <c:pt idx="15">
                  <c:v>26550</c:v>
                </c:pt>
                <c:pt idx="16">
                  <c:v>26900</c:v>
                </c:pt>
                <c:pt idx="17">
                  <c:v>28100</c:v>
                </c:pt>
                <c:pt idx="18">
                  <c:v>29250</c:v>
                </c:pt>
                <c:pt idx="19">
                  <c:v>29150</c:v>
                </c:pt>
                <c:pt idx="20">
                  <c:v>30450</c:v>
                </c:pt>
                <c:pt idx="21">
                  <c:v>29400</c:v>
                </c:pt>
                <c:pt idx="22">
                  <c:v>29150</c:v>
                </c:pt>
                <c:pt idx="23">
                  <c:v>30500</c:v>
                </c:pt>
                <c:pt idx="24">
                  <c:v>30200</c:v>
                </c:pt>
                <c:pt idx="25">
                  <c:v>29500</c:v>
                </c:pt>
                <c:pt idx="26">
                  <c:v>29650</c:v>
                </c:pt>
                <c:pt idx="27">
                  <c:v>31400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Silico Manganese</c:v>
                </c:pt>
              </c:strCache>
            </c:strRef>
          </c:tx>
          <c:spPr>
            <a:solidFill>
              <a:srgbClr val="FF8F00"/>
            </a:solidFill>
            <a:ln w="25400" cap="flat">
              <a:solidFill>
                <a:srgbClr val="FF8F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8F00"/>
              </a:solidFill>
              <a:ln w="9525" cap="flat">
                <a:solidFill>
                  <a:srgbClr val="FF8F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65.5</c:v>
                </c:pt>
                <c:pt idx="1">
                  <c:v>69.8</c:v>
                </c:pt>
                <c:pt idx="2">
                  <c:v>71.4</c:v>
                </c:pt>
                <c:pt idx="3">
                  <c:v>73</c:v>
                </c:pt>
                <c:pt idx="4">
                  <c:v>70.8</c:v>
                </c:pt>
                <c:pt idx="5">
                  <c:v>70.7</c:v>
                </c:pt>
                <c:pt idx="6">
                  <c:v>72.2</c:v>
                </c:pt>
                <c:pt idx="7">
                  <c:v>72.3</c:v>
                </c:pt>
                <c:pt idx="8">
                  <c:v>72.7</c:v>
                </c:pt>
                <c:pt idx="9">
                  <c:v>72.3</c:v>
                </c:pt>
                <c:pt idx="10">
                  <c:v>72.3</c:v>
                </c:pt>
                <c:pt idx="11">
                  <c:v>69.9</c:v>
                </c:pt>
                <c:pt idx="12">
                  <c:v>69.9</c:v>
                </c:pt>
                <c:pt idx="13">
                  <c:v>72</c:v>
                </c:pt>
                <c:pt idx="14">
                  <c:v>69.9</c:v>
                </c:pt>
                <c:pt idx="15">
                  <c:v>69.4</c:v>
                </c:pt>
                <c:pt idx="16">
                  <c:v>69.3</c:v>
                </c:pt>
                <c:pt idx="17">
                  <c:v>71.6</c:v>
                </c:pt>
                <c:pt idx="18">
                  <c:v>73</c:v>
                </c:pt>
                <c:pt idx="19">
                  <c:v>73.1</c:v>
                </c:pt>
                <c:pt idx="20">
                  <c:v>74.3</c:v>
                </c:pt>
                <c:pt idx="21">
                  <c:v>73.3</c:v>
                </c:pt>
                <c:pt idx="22">
                  <c:v>73.2</c:v>
                </c:pt>
                <c:pt idx="23">
                  <c:v>74.4</c:v>
                </c:pt>
                <c:pt idx="24">
                  <c:v>74.6</c:v>
                </c:pt>
                <c:pt idx="25">
                  <c:v>75.5</c:v>
                </c:pt>
                <c:pt idx="26">
                  <c:v>75.5</c:v>
                </c:pt>
                <c:pt idx="27">
                  <c:v>81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518.69</c:v>
                </c:pt>
                <c:pt idx="1">
                  <c:v>615.92</c:v>
                </c:pt>
                <c:pt idx="2">
                  <c:v>206.63</c:v>
                </c:pt>
                <c:pt idx="3">
                  <c:v>426.29</c:v>
                </c:pt>
                <c:pt idx="4">
                  <c:v>1612.62</c:v>
                </c:pt>
                <c:pt idx="5">
                  <c:v>1969.18</c:v>
                </c:pt>
                <c:pt idx="6">
                  <c:v>1458.55</c:v>
                </c:pt>
                <c:pt idx="7">
                  <c:v>902.54</c:v>
                </c:pt>
                <c:pt idx="8">
                  <c:v>498.63</c:v>
                </c:pt>
                <c:pt idx="9">
                  <c:v>-1301.05</c:v>
                </c:pt>
                <c:pt idx="10">
                  <c:v>-1172.9</c:v>
                </c:pt>
                <c:pt idx="11">
                  <c:v>-485.6</c:v>
                </c:pt>
                <c:pt idx="12">
                  <c:v>-1776.62</c:v>
                </c:pt>
                <c:pt idx="13">
                  <c:v>-1433.88</c:v>
                </c:pt>
                <c:pt idx="14">
                  <c:v>-1189.77</c:v>
                </c:pt>
                <c:pt idx="15">
                  <c:v>427</c:v>
                </c:pt>
                <c:pt idx="16">
                  <c:v>618.4</c:v>
                </c:pt>
                <c:pt idx="17">
                  <c:v>1639.58</c:v>
                </c:pt>
                <c:pt idx="18">
                  <c:v>676.67</c:v>
                </c:pt>
                <c:pt idx="19">
                  <c:v>433.02</c:v>
                </c:pt>
                <c:pt idx="20">
                  <c:v>-609.77</c:v>
                </c:pt>
                <c:pt idx="21">
                  <c:v>-726.71</c:v>
                </c:pt>
                <c:pt idx="22">
                  <c:v>-610.99</c:v>
                </c:pt>
                <c:pt idx="23">
                  <c:v>556.33</c:v>
                </c:pt>
                <c:pt idx="24">
                  <c:v>558.24</c:v>
                </c:pt>
                <c:pt idx="25">
                  <c:v>259.94</c:v>
                </c:pt>
                <c:pt idx="26">
                  <c:v>509.7</c:v>
                </c:pt>
                <c:pt idx="27">
                  <c:v>416.63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85.71</c:v>
                </c:pt>
                <c:pt idx="1">
                  <c:v>349.01</c:v>
                </c:pt>
                <c:pt idx="2">
                  <c:v>170.92</c:v>
                </c:pt>
                <c:pt idx="3">
                  <c:v>-352.58</c:v>
                </c:pt>
                <c:pt idx="4">
                  <c:v>169.18</c:v>
                </c:pt>
                <c:pt idx="5">
                  <c:v>441.85</c:v>
                </c:pt>
                <c:pt idx="6">
                  <c:v>318.45</c:v>
                </c:pt>
                <c:pt idx="7">
                  <c:v>544.96</c:v>
                </c:pt>
                <c:pt idx="8">
                  <c:v>408.01</c:v>
                </c:pt>
                <c:pt idx="9">
                  <c:v>-1068.01</c:v>
                </c:pt>
                <c:pt idx="10">
                  <c:v>-919.91</c:v>
                </c:pt>
                <c:pt idx="11">
                  <c:v>-610.19</c:v>
                </c:pt>
                <c:pt idx="12">
                  <c:v>-1076.88</c:v>
                </c:pt>
                <c:pt idx="13">
                  <c:v>-869.46</c:v>
                </c:pt>
                <c:pt idx="14">
                  <c:v>-613.2</c:v>
                </c:pt>
                <c:pt idx="15">
                  <c:v>-95.17</c:v>
                </c:pt>
                <c:pt idx="16">
                  <c:v>-70.46</c:v>
                </c:pt>
                <c:pt idx="17">
                  <c:v>323.7</c:v>
                </c:pt>
                <c:pt idx="18">
                  <c:v>806.24</c:v>
                </c:pt>
                <c:pt idx="19">
                  <c:v>741.76</c:v>
                </c:pt>
                <c:pt idx="20">
                  <c:v>-246.38</c:v>
                </c:pt>
                <c:pt idx="21">
                  <c:v>23.22</c:v>
                </c:pt>
                <c:pt idx="22">
                  <c:v>-105.68</c:v>
                </c:pt>
                <c:pt idx="23">
                  <c:v>11</c:v>
                </c:pt>
                <c:pt idx="24">
                  <c:v>-47.79</c:v>
                </c:pt>
                <c:pt idx="25">
                  <c:v>65.27</c:v>
                </c:pt>
                <c:pt idx="26">
                  <c:v>172.45</c:v>
                </c:pt>
                <c:pt idx="27">
                  <c:v>92.68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Raipur</c:v>
                </c:pt>
              </c:strCache>
            </c:strRef>
          </c:tx>
          <c:spPr>
            <a:solidFill>
              <a:srgbClr val="2133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785.24</c:v>
                </c:pt>
                <c:pt idx="1">
                  <c:v>632.04</c:v>
                </c:pt>
                <c:pt idx="2">
                  <c:v>365.08</c:v>
                </c:pt>
                <c:pt idx="3">
                  <c:v>1330.5</c:v>
                </c:pt>
                <c:pt idx="4">
                  <c:v>3221.52</c:v>
                </c:pt>
                <c:pt idx="5">
                  <c:v>3282.54</c:v>
                </c:pt>
                <c:pt idx="6">
                  <c:v>2227.82</c:v>
                </c:pt>
                <c:pt idx="7">
                  <c:v>1583.36</c:v>
                </c:pt>
                <c:pt idx="8">
                  <c:v>928.22</c:v>
                </c:pt>
                <c:pt idx="9">
                  <c:v>-1091.46</c:v>
                </c:pt>
                <c:pt idx="10">
                  <c:v>-1162.28</c:v>
                </c:pt>
                <c:pt idx="11">
                  <c:v>-262.29</c:v>
                </c:pt>
                <c:pt idx="12">
                  <c:v>-1411.63</c:v>
                </c:pt>
                <c:pt idx="13">
                  <c:v>-1554.96</c:v>
                </c:pt>
                <c:pt idx="14">
                  <c:v>-1118.49</c:v>
                </c:pt>
                <c:pt idx="15">
                  <c:v>556.02</c:v>
                </c:pt>
                <c:pt idx="16">
                  <c:v>594.55</c:v>
                </c:pt>
                <c:pt idx="17">
                  <c:v>1999.1</c:v>
                </c:pt>
                <c:pt idx="18">
                  <c:v>1024.48</c:v>
                </c:pt>
                <c:pt idx="19">
                  <c:v>1130.09</c:v>
                </c:pt>
                <c:pt idx="20">
                  <c:v>322.95</c:v>
                </c:pt>
                <c:pt idx="21">
                  <c:v>417.87</c:v>
                </c:pt>
                <c:pt idx="22">
                  <c:v>536.13</c:v>
                </c:pt>
                <c:pt idx="23">
                  <c:v>2145.58</c:v>
                </c:pt>
                <c:pt idx="24">
                  <c:v>2500.31</c:v>
                </c:pt>
                <c:pt idx="25">
                  <c:v>2358.82</c:v>
                </c:pt>
                <c:pt idx="26">
                  <c:v>2456.18</c:v>
                </c:pt>
                <c:pt idx="27">
                  <c:v>3047.16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NCR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Sheet1!$A$2:$A$29</c:f>
              <c:multiLvlStrCache>
                <c:ptCount val="28"/>
                <c:lvl>
                  <c:pt idx="0">
                    <c:v>Dec'24</c:v>
                  </c:pt>
                  <c:pt idx="1">
                    <c:v>Jan'25</c:v>
                  </c:pt>
                  <c:pt idx="2">
                    <c:v>Feb'25</c:v>
                  </c:pt>
                  <c:pt idx="3">
                    <c:v>Mar'25</c:v>
                  </c:pt>
                  <c:pt idx="4">
                    <c:v>Apr'25</c:v>
                  </c:pt>
                  <c:pt idx="5">
                    <c:v>May'25</c:v>
                  </c:pt>
                  <c:pt idx="6">
                    <c:v>May'25</c:v>
                  </c:pt>
                  <c:pt idx="7">
                    <c:v>Jun'25</c:v>
                  </c:pt>
                  <c:pt idx="8">
                    <c:v>Jul'25</c:v>
                  </c:pt>
                  <c:pt idx="9">
                    <c:v>Jul'25</c:v>
                  </c:pt>
                  <c:pt idx="10">
                    <c:v>Jul'25</c:v>
                  </c:pt>
                  <c:pt idx="11">
                    <c:v>Aug'25</c:v>
                  </c:pt>
                  <c:pt idx="12">
                    <c:v>Sep'25</c:v>
                  </c:pt>
                  <c:pt idx="13">
                    <c:v>Oct'25</c:v>
                  </c:pt>
                  <c:pt idx="14">
                    <c:v>Nov'25</c:v>
                  </c:pt>
                  <c:pt idx="15">
                    <c:v>Dec'25</c:v>
                  </c:pt>
                  <c:pt idx="16">
                    <c:v>Dec'25</c:v>
                  </c:pt>
                  <c:pt idx="17">
                    <c:v>Jan'26</c:v>
                  </c:pt>
                  <c:pt idx="18">
                    <c:v>Jan'26</c:v>
                  </c:pt>
                  <c:pt idx="19">
                    <c:v>Jan'26</c:v>
                  </c:pt>
                  <c:pt idx="20">
                    <c:v>Feb'26</c:v>
                  </c:pt>
                  <c:pt idx="21">
                    <c:v>Feb'26</c:v>
                  </c:pt>
                  <c:pt idx="22">
                    <c:v>Feb'26</c:v>
                  </c:pt>
                  <c:pt idx="23">
                    <c:v>Mar'26</c:v>
                  </c:pt>
                  <c:pt idx="24">
                    <c:v>Mar'26</c:v>
                  </c:pt>
                  <c:pt idx="25">
                    <c:v>Mar'26</c:v>
                  </c:pt>
                  <c:pt idx="26">
                    <c:v>Mar'26</c:v>
                  </c:pt>
                  <c:pt idx="27">
                    <c:v>Apr'26</c:v>
                  </c:pt>
                </c:lvl>
              </c:multiLvlStrCache>
            </c:multiLvl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1176.79</c:v>
                </c:pt>
                <c:pt idx="1">
                  <c:v>1041.4</c:v>
                </c:pt>
                <c:pt idx="2">
                  <c:v>1155.49</c:v>
                </c:pt>
                <c:pt idx="3">
                  <c:v>2130.2</c:v>
                </c:pt>
                <c:pt idx="4">
                  <c:v>3002.54</c:v>
                </c:pt>
                <c:pt idx="5">
                  <c:v>2928.59</c:v>
                </c:pt>
                <c:pt idx="6">
                  <c:v>2211.4</c:v>
                </c:pt>
                <c:pt idx="7">
                  <c:v>2045.32</c:v>
                </c:pt>
                <c:pt idx="8">
                  <c:v>1708.07</c:v>
                </c:pt>
                <c:pt idx="9">
                  <c:v>1123.45</c:v>
                </c:pt>
                <c:pt idx="10">
                  <c:v>971.93</c:v>
                </c:pt>
                <c:pt idx="11">
                  <c:v>193.73</c:v>
                </c:pt>
                <c:pt idx="12">
                  <c:v>-279.89</c:v>
                </c:pt>
                <c:pt idx="13">
                  <c:v>-859.62</c:v>
                </c:pt>
                <c:pt idx="14">
                  <c:v>-565.31</c:v>
                </c:pt>
                <c:pt idx="15">
                  <c:v>308.87</c:v>
                </c:pt>
                <c:pt idx="16">
                  <c:v>630.58</c:v>
                </c:pt>
                <c:pt idx="17">
                  <c:v>2107.09</c:v>
                </c:pt>
                <c:pt idx="18">
                  <c:v>2379.09</c:v>
                </c:pt>
                <c:pt idx="19">
                  <c:v>2214.89</c:v>
                </c:pt>
                <c:pt idx="20">
                  <c:v>1567.65</c:v>
                </c:pt>
                <c:pt idx="21">
                  <c:v>2450.61</c:v>
                </c:pt>
                <c:pt idx="22">
                  <c:v>2774.28</c:v>
                </c:pt>
                <c:pt idx="23">
                  <c:v>4129.88</c:v>
                </c:pt>
                <c:pt idx="24">
                  <c:v>4021.43</c:v>
                </c:pt>
                <c:pt idx="25">
                  <c:v>3589.8</c:v>
                </c:pt>
                <c:pt idx="26">
                  <c:v>4245.83</c:v>
                </c:pt>
                <c:pt idx="27">
                  <c:v>4799.42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F7F7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7F7F7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cost &amp; margin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269748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269748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920240"/>
            <a:ext cx="2194560" cy="7223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85216" y="2852928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raw material prices and margin trends with month-on-month changes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85216" y="3218688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2024-12-12 to 2026-04-02  |  28 data points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Raipur +1,500  |  NCR +2,000     •     Period avg:  Raipur 32,736  |  NCR 33,104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Raipur — INR/MT / INR/kg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Pallet DRI: +1,600 INR/MT  |  Pig Iron: +1,500 INR/MT  |  Iron Ore DRI: +1,750 INR/MT  |  Silico Manganese: +5.5 INR/kg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 Margin Billet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Raipur -93  |  NCR -80     •     Period avg:  Raipur 178  |  NCR -48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"/>
            <a:ext cx="9189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TMT (Raipur &amp; NCR) — INR/MT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685800"/>
            <a:ext cx="8046720" cy="45720"/>
          </a:xfrm>
          <a:prstGeom prst="rect">
            <a:avLst/>
          </a:prstGeom>
          <a:solidFill>
            <a:srgbClr val="2133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685800"/>
            <a:ext cx="4507992" cy="45720"/>
          </a:xfrm>
          <a:prstGeom prst="rect">
            <a:avLst/>
          </a:prstGeom>
          <a:solidFill>
            <a:srgbClr val="EA2127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8288"/>
            <a:ext cx="1920240" cy="630936"/>
          </a:xfrm>
          <a:prstGeom prst="rect">
            <a:avLst/>
          </a:prstGeom>
        </p:spPr>
      </p:pic>
      <p:graphicFrame>
        <p:nvGraphicFramePr>
          <p:cNvPr id="6" name="Chart 0" descr=""/>
          <p:cNvGraphicFramePr/>
          <p:nvPr/>
        </p:nvGraphicFramePr>
        <p:xfrm>
          <a:off x="457200" y="868680"/>
          <a:ext cx="11274552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5166360"/>
            <a:ext cx="11274552" cy="274320"/>
          </a:xfrm>
          <a:prstGeom prst="rect">
            <a:avLst/>
          </a:prstGeom>
          <a:solidFill>
            <a:srgbClr val="F2F2F2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4360" y="51663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33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change:  Raipur +591  |  NCR +554     •     Period avg:  Raipur 959  |  NCR 1,900 INR/MT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7432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943600" y="644652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Costing change log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2026-04-02T09:00:48Z</dcterms:created>
  <dcterms:modified xsi:type="dcterms:W3CDTF">2026-04-02T09:00:48Z</dcterms:modified>
</cp:coreProperties>
</file>