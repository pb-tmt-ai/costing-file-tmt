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3366"/>
                </a:solidFill>
                <a:latin typeface="Calibri"/>
              </a:defRPr>
            </a:pPr>
            <a:r>
              <a:t>Material cost change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7F7F"/>
                </a:solidFill>
                <a:latin typeface="Calibri"/>
              </a:defRPr>
            </a:pPr>
            <a:r>
              <a:t>Month-on-month absolute change (INR) for key raw materials and margins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7F7F"/>
                </a:solidFill>
                <a:latin typeface="Calibri"/>
              </a:defRPr>
            </a:pPr>
            <a:r>
              <a:t>Period: 2024-12-12 to 2026-03-26  |  17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36576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7F7F"/>
                </a:solidFill>
                <a:latin typeface="Calibri"/>
              </a:defRPr>
            </a:pPr>
            <a:r>
              <a:t>Generated: 2026-03-26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Pallet DRI (Raipur)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Pallet_D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Pig Iron (Raipur)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Pig_I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Scrap (Raipur &amp; NCR)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Sc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Silico Manganese (Raipur) — INR/kg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Silico_Mangane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Iron Ore DRI (Raipur)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Iron_Ore_D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Nett Margin Billet (Raipur)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Nett_Margin_Billet_(Raipur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Nett Margin Billet (NCR)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Nett_Margin_Billet_(NCR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Margin TMT (Raipur)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Margin_TMT_(Raipur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3366"/>
                </a:solidFill>
                <a:latin typeface="Calibri"/>
              </a:defRPr>
            </a:pPr>
            <a:r>
              <a:t>Margin TMT (NCR) — INR/MT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SW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pic>
        <p:nvPicPr>
          <p:cNvPr id="6" name="Picture 5" descr="Margin_TMT_(NCR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68680"/>
            <a:ext cx="11274552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7F7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i="1">
                <a:solidFill>
                  <a:srgbClr val="7F7F7F"/>
                </a:solidFill>
                <a:latin typeface="Calibri"/>
              </a:defRPr>
            </a:pPr>
            <a:r>
              <a:t>Source: Costing change 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